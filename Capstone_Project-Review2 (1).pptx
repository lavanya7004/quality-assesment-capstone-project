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77" r:id="rId4"/>
    <p:sldId id="279" r:id="rId5"/>
    <p:sldId id="275" r:id="rId6"/>
    <p:sldId id="276" r:id="rId7"/>
    <p:sldId id="273" r:id="rId8"/>
    <p:sldId id="268" r:id="rId9"/>
    <p:sldId id="278" r:id="rId10"/>
    <p:sldId id="270" r:id="rId11"/>
    <p:sldId id="265" r:id="rId12"/>
    <p:sldId id="280" r:id="rId13"/>
    <p:sldId id="283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362" autoAdjust="0"/>
    <p:restoredTop sz="94660"/>
  </p:normalViewPr>
  <p:slideViewPr>
    <p:cSldViewPr snapToGrid="0">
      <p:cViewPr varScale="1">
        <p:scale>
          <a:sx n="64" d="100"/>
          <a:sy n="64" d="100"/>
        </p:scale>
        <p:origin x="-696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avanya7004/Quality-Assesment-Capstone-Projec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PSCS_46_ 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Application for Assessment of Quality of Textbook/Reference Books/E-Book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GB" sz="18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CSE_169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Mr. </a:t>
            </a:r>
            <a:r>
              <a:rPr lang="en-GB" sz="1700" b="1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Md</a:t>
            </a:r>
            <a:r>
              <a:rPr lang="en-GB" sz="17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Zia Ur </a:t>
            </a:r>
            <a:r>
              <a:rPr lang="en-GB" sz="1700" b="1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Rahman</a:t>
            </a:r>
            <a:endParaRPr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Professor</a:t>
            </a:r>
            <a:endParaRPr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of Computer Science </a:t>
            </a:r>
            <a:r>
              <a:rPr lang="en-GB" sz="17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and </a:t>
            </a: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Review-2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5448" y="4543044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Computer Science and Engineering</a:t>
            </a:r>
            <a:endParaRPr lang="en-US" sz="18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Dr.Blessed</a:t>
            </a:r>
            <a:r>
              <a:rPr lang="en-US" sz="18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Prince</a:t>
            </a:r>
            <a:endParaRPr lang="en-US" sz="1800" b="1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Dr.Jayavadivel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Ravi</a:t>
            </a:r>
            <a:endParaRPr lang="en-US" altLang="en-US" sz="1800" b="1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356616" y="2706624"/>
          <a:ext cx="5843016" cy="1525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2871216"/>
              </a:tblGrid>
              <a:tr h="611287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GB" sz="1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7365D"/>
                          </a:solidFill>
                          <a:effectLst/>
                          <a:uLnTx/>
                          <a:uFillTx/>
                          <a:latin typeface="+mj-lt"/>
                          <a:cs typeface="+mj-lt"/>
                          <a:sym typeface="Arial" panose="020B0604020202020204"/>
                        </a:rPr>
                        <a:t>Roll Number</a:t>
                      </a:r>
                    </a:p>
                    <a:p>
                      <a:pPr algn="ctr"/>
                      <a:endParaRPr lang="en-IN" dirty="0">
                        <a:latin typeface="+mj-lt"/>
                        <a:cs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Student Name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20467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20221CSE0392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LAVANYA</a:t>
                      </a:r>
                      <a:r>
                        <a:rPr lang="en-US" baseline="0" dirty="0" smtClean="0"/>
                        <a:t>  M</a:t>
                      </a:r>
                      <a:endParaRPr lang="en-IN" dirty="0"/>
                    </a:p>
                  </a:txBody>
                  <a:tcPr/>
                </a:tc>
              </a:tr>
              <a:tr h="20467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20221CSE0266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SUPRAJA</a:t>
                      </a:r>
                      <a:r>
                        <a:rPr lang="en-US" baseline="0" dirty="0" smtClean="0"/>
                        <a:t>  POSINA</a:t>
                      </a:r>
                      <a:endParaRPr lang="en-IN" dirty="0"/>
                    </a:p>
                  </a:txBody>
                  <a:tcPr/>
                </a:tc>
              </a:tr>
              <a:tr h="20467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20221CSE0385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CHETHANA</a:t>
                      </a:r>
                      <a:r>
                        <a:rPr lang="en-IN" baseline="0" dirty="0" smtClean="0"/>
                        <a:t> T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955" y="1249680"/>
            <a:ext cx="10668000" cy="4107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Abstract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Literature Survey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5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Objectives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Existing Methods and Drawbacks</a:t>
            </a:r>
            <a:endParaRPr lang="en-US" altLang="en-US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Proposed Method &amp; Feasibility Study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5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Architecture Diagram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50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Modules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5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Hardware and Software Details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5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Timeline (Gantt Chart)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5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5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5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Abstract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altLang="en-US" sz="2285" b="1" dirty="0">
                <a:latin typeface="Cambria" panose="02040503050406030204" pitchFamily="18" charset="0"/>
                <a:cs typeface="Cambria" panose="02040503050406030204" pitchFamily="18" charset="0"/>
              </a:rPr>
              <a:t>Concise overview:</a:t>
            </a:r>
          </a:p>
          <a:p>
            <a:pPr marL="76200" indent="0">
              <a:buNone/>
            </a:pPr>
            <a:endParaRPr lang="en-US" altLang="en-US" sz="2285" b="1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Problem Introduction: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Textbooks vary in quality, and there is no centralized system for students, reviewers, and committees to collaboratively evaluate them, leading to inconsistent learning outcomes.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Objective: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To build a web-based platform that enables role-based review, rating, and approval of textbooks, with dashboards and analytics to support academic decision-making.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Approach: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sz="200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Using React,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TypeScript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TailwindCSS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the system provides login-based access for students, reviewers, and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admins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, stores reviews locally (extendable to databases), and visualizes results with interactive charts.</a:t>
            </a:r>
          </a:p>
          <a:p>
            <a:pPr marL="76200" indent="0">
              <a:buNone/>
            </a:pPr>
            <a:endParaRPr lang="en-US" altLang="en-US" sz="2285" dirty="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Literature Survey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870" y="1083366"/>
            <a:ext cx="11738720" cy="4822134"/>
          </a:xfrm>
        </p:spPr>
        <p:txBody>
          <a:bodyPr>
            <a:no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Expert committee reviews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are reliable but slow, costly, and sometimes subjective.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Student/teacher surveys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capture classroom impact but suffer from bias and low participation.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Online ratings/marketplace reviews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scale well but are prone to fake or non-expert inputs.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Publisher endorsements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are quick but often commercially biased.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Automated methods (readability, plagiarism, NLP)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provide scalability but fail to capture pedagogy and domain-specific accuracy.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Hybrid approaches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combining expert evaluation, structured feedback, and analytics are recommended as the most effective solution.</a:t>
            </a:r>
          </a:p>
          <a:p>
            <a:pPr algn="just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Objectives</a:t>
            </a: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To develop a web-based platform for evaluating the quality of textbooks, reference books, and e-books.</a:t>
            </a:r>
          </a:p>
          <a:p>
            <a:r>
              <a:rPr lang="en-US" dirty="0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To provide a standardized assessment framework with predefined quality parameters and </a:t>
            </a:r>
            <a:r>
              <a:rPr lang="en-US" dirty="0" err="1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weightages</a:t>
            </a:r>
            <a:r>
              <a:rPr lang="en-US" dirty="0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.</a:t>
            </a:r>
          </a:p>
          <a:p>
            <a:r>
              <a:rPr lang="en-US" dirty="0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To enable secure reviewer authentication and role-based access control.</a:t>
            </a:r>
          </a:p>
          <a:p>
            <a:r>
              <a:rPr lang="en-US" dirty="0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To automate the scoring and report generation process for quick decision-making.</a:t>
            </a:r>
          </a:p>
          <a:p>
            <a:r>
              <a:rPr lang="en-US" dirty="0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To create a centralized database for storing book details, reviews, and historical records.</a:t>
            </a:r>
          </a:p>
          <a:p>
            <a:r>
              <a:rPr lang="en-US" dirty="0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To ensure transparency, consistency, and efficiency in the evaluation process.</a:t>
            </a:r>
          </a:p>
          <a:p>
            <a:pPr marL="76200" indent="0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035" y="437198"/>
            <a:ext cx="10668000" cy="487500"/>
          </a:xfrm>
        </p:spPr>
        <p:txBody>
          <a:bodyPr/>
          <a:lstStyle/>
          <a:p>
            <a:r>
              <a:rPr lang="en-US" altLang="en-US"/>
              <a:t>Existing Methods and Drawbacks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035" y="1143000"/>
            <a:ext cx="11235690" cy="49530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Expert committee reviews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 Accurate but time-consuming, costly, and sometimes subjective.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Student/teacher surveys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 Easy to collect but prone to bias and low response rates.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Online ratings (Amazon, portals)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 Accessible but vulnerable to fake or non-expert reviews.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Publisher endorsements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 Quick but often biased or commercially influenced.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Automated content checks (NLP, plagiarism, readability)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– Scalable but miss conceptual depth and pedagogy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Drawback summary: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Existing methods are either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slow and resource-intensive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fast but unreliable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lacking a balanced, transparent system for consistent textbook quality evaluation.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78460" y="1143000"/>
            <a:ext cx="1110234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Proposed Method: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Frontend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Developed using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React,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TypeScript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, and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TailwindCSS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to provide a responsive and user-friendly interface.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Role-based Access: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Students/reviewers submit ratings and comments, while </a:t>
            </a:r>
            <a:r>
              <a:rPr lang="en-US" sz="2000" dirty="0" err="1" smtClean="0">
                <a:latin typeface="Times New Roman" pitchFamily="18" charset="0"/>
                <a:cs typeface="Times New Roman" pitchFamily="18" charset="0"/>
              </a:rPr>
              <a:t>admins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/committees approve books and view analytics.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Data Storage: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Implemented initially with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localStorage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for demonstration, but designed for extension to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Express +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Analytics: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Interactive dashboards using </a:t>
            </a:r>
            <a:r>
              <a:rPr lang="en-US" sz="2000" b="1" dirty="0" err="1" smtClean="0">
                <a:latin typeface="Times New Roman" pitchFamily="18" charset="0"/>
                <a:cs typeface="Times New Roman" pitchFamily="18" charset="0"/>
              </a:rPr>
              <a:t>Recharts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summarize subject-wise averages and overall textbook performance.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Feasibility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Technical: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Built with proven, lightweight, open-source tools.</a:t>
            </a: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Economic: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Low cost; runs on standard hardware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Scalable: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Can extend to real databases and cloud deployment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85433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895725" y="2016760"/>
            <a:ext cx="3382010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/>
              <a:t>Chatbot messenger</a:t>
            </a:r>
          </a:p>
        </p:txBody>
      </p:sp>
      <p:pic>
        <p:nvPicPr>
          <p:cNvPr id="11266" name="Picture 2" descr="C:\Users\91934\Downloads\Architecture_Diagra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4460" y="941090"/>
            <a:ext cx="10560456" cy="500250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Modules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735" y="1143001"/>
            <a:ext cx="10668000" cy="49530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Authentication &amp; Role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Management: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Handles login and session storage.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Provides role-based access for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Student, Reviewer, and Admin/Committee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Book Management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Module: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Displays textbooks with details (title, author, subject, rating).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Allows searching, filtering, and browsing books.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Review &amp; Rating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Module: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Students/Reviewers submit reviews with ratings and comments.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Stores and updates aggregated book scores.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Admin/Committee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Module: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Approves or rejects books.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Monitors performance and ensures quality standards.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Analytics &amp; Reporting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Module: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Uses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Recharts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visual dashboards.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Provides subject-wise averages and comparison charts.</a:t>
            </a:r>
          </a:p>
          <a:p>
            <a:pPr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Storage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Module: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Uses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localStorage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(demo).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Can be extended to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MongoDB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for persistence.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00355" y="1143000"/>
            <a:ext cx="1157097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Hardware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457200" algn="just">
              <a:spcBef>
                <a:spcPts val="0"/>
              </a:spcBef>
              <a:buSzPct val="100000"/>
            </a:pPr>
            <a:r>
              <a:rPr lang="en-US" altLang="en-US" dirty="0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Laptop/Server,</a:t>
            </a:r>
            <a:endParaRPr lang="en-US" altLang="en-US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marL="342900" indent="457200" algn="just">
              <a:spcBef>
                <a:spcPts val="0"/>
              </a:spcBef>
              <a:buSzPct val="100000"/>
            </a:pPr>
            <a:r>
              <a:rPr lang="en-US" altLang="en-US" dirty="0" smtClean="0">
                <a:latin typeface="Times New Roman" pitchFamily="18" charset="0"/>
                <a:ea typeface="Cambria" panose="02040503050406030204" pitchFamily="18" charset="0"/>
                <a:cs typeface="Times New Roman" pitchFamily="18" charset="0"/>
              </a:rPr>
              <a:t>Internet.</a:t>
            </a:r>
            <a:endParaRPr lang="en-US" altLang="en-US" dirty="0">
              <a:latin typeface="Times New Roman" pitchFamily="18" charset="0"/>
              <a:ea typeface="Cambria" panose="02040503050406030204" pitchFamily="18" charset="0"/>
              <a:cs typeface="Times New Roman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Node.js &amp;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Node 18.x LTS (or Node 20.x);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bundled.</a:t>
            </a:r>
          </a:p>
          <a:p>
            <a:pPr lvl="1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Check with: node -v and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npm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-v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Code editor: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Visual Studio Code (recommended) or Notepad / Notepad++.</a:t>
            </a:r>
          </a:p>
          <a:p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for version control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git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CLI).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Browser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Chrome, Firefox, Edge (latest stable) for testing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Frame work: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React(v18+) with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TypeScript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Charts: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Recharts</a:t>
            </a:r>
            <a:endParaRPr lang="en-US" b="1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(Gantt Chart)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E6AE1D15-D9B3-6427-0A32-286E49A982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540" y="1116963"/>
            <a:ext cx="9091942" cy="46576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References(IEEE paper format)</a:t>
            </a:r>
            <a:endParaRPr lang="en-US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7500" lnSpcReduction="20000"/>
          </a:bodyPr>
          <a:lstStyle/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[1] M. S. Al-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Ajlan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 and M. A. Al-Khalifa, "Towards the development of an automated evaluation tool for digital educational resources,"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Advanced Computer Science and Applications (IJACSA)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vol. 7, no. 7, pp. 204–210, 2016.</a:t>
            </a: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[2] N. G. T.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Izquierdo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L. A. G. Villalobos, and J. D. M.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Ramírez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"A framework for the evaluation of e-learning materials," in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Proc. IEEE Global Engineering Education Conf. (EDUCON)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Abu Dhabi, UAE, 2016, pp. 1129–1134.</a:t>
            </a: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[3] R. K. Singh and A. Sharma, "Design and development of web-based evaluation system for academic resources,"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Computer Applications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vol. 183, no. 8, pp. 25–30, June 2021.</a:t>
            </a: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[4] T. M. Connolly and E. A.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Stansfield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"Evaluating the quality of learning resources: A web-based approach," in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Proc. IEEE International Conf. on Advanced Learning Technologies (ICALT)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Athens, Greece, 2014, pp. 37–41.</a:t>
            </a: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[5] M. A. Al-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Emran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"Towards an intelligent framework for textbook evaluation in higher education,"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Education and Information Technologies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vol. 24, no. 2, pp. 1453–1468, Mar. 2019.</a:t>
            </a: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[6] S. R. K.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Somasekhar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P. V. Kumar, and R. J. Reddy, "Automated assessment of educational content using multi-criteria analysis," in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Proc. IEEE International Conf. on Technology for Education (T4E)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Mumbai, India, 2020, pp. 215–220.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github link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  <a:hlinkClick r:id="rId2"/>
              </a:rPr>
              <a:t>https://github.com/Lavanya7004/Quality-Assesment-Capstone 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1050</Words>
  <Application>WPS Presentation</Application>
  <PresentationFormat>Custom</PresentationFormat>
  <Paragraphs>126</Paragraphs>
  <Slides>14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Bioinformatics</vt:lpstr>
      <vt:lpstr>PSCS_46_ Application for Assessment of Quality of Textbook/Reference Books/E-Book</vt:lpstr>
      <vt:lpstr>Content</vt:lpstr>
      <vt:lpstr>Abstract</vt:lpstr>
      <vt:lpstr>Literature Survey</vt:lpstr>
      <vt:lpstr>Objectives</vt:lpstr>
      <vt:lpstr>Existing Methods and Drawbacks</vt:lpstr>
      <vt:lpstr>Proposed Method &amp; Feasibility Study</vt:lpstr>
      <vt:lpstr>Architecture Diagram</vt:lpstr>
      <vt:lpstr>Modules</vt:lpstr>
      <vt:lpstr>Hardware and Software Details</vt:lpstr>
      <vt:lpstr>Timeline (Gantt Chart)</vt:lpstr>
      <vt:lpstr>References(IEEE paper format)</vt:lpstr>
      <vt:lpstr>github link</vt:lpstr>
      <vt:lpstr>Slide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chethana talluru</cp:lastModifiedBy>
  <cp:revision>58</cp:revision>
  <dcterms:created xsi:type="dcterms:W3CDTF">2025-08-11T14:02:00Z</dcterms:created>
  <dcterms:modified xsi:type="dcterms:W3CDTF">2025-09-09T16:34:25Z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686B022832A446F9878299F0000DCA68_12</vt:lpwstr>
  </property>
  <property fmtid="{D5CDD505-2E9C-101B-9397-08002B2CF9AE}" pid="3" name="KSOProductBuildVer">
    <vt:lpwstr>1033-12.2.0.22222</vt:lpwstr>
  </property>
</Properties>
</file>