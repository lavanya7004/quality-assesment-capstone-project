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7" r:id="rId6"/>
    <p:sldId id="279" r:id="rId7"/>
    <p:sldId id="285" r:id="rId8"/>
    <p:sldId id="275" r:id="rId9"/>
    <p:sldId id="276" r:id="rId10"/>
    <p:sldId id="273" r:id="rId11"/>
    <p:sldId id="268" r:id="rId12"/>
    <p:sldId id="278" r:id="rId13"/>
    <p:sldId id="270" r:id="rId14"/>
    <p:sldId id="265" r:id="rId15"/>
    <p:sldId id="280" r:id="rId16"/>
    <p:sldId id="284" r:id="rId17"/>
    <p:sldId id="283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361" autoAdjust="0"/>
    <p:restoredTop sz="94660"/>
  </p:normalViewPr>
  <p:slideViewPr>
    <p:cSldViewPr snapToGrid="0">
      <p:cViewPr varScale="1">
        <p:scale>
          <a:sx n="64" d="100"/>
          <a:sy n="64" d="100"/>
        </p:scale>
        <p:origin x="-696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Lavanya7004/Quality-Assesment-Capstone-Project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PSCS_46_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 for Assessment of Quality of Textbook/Reference Books/E-Book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CSE_169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GB" sz="1800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Md</a:t>
            </a: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ZiaUr </a:t>
            </a:r>
            <a:r>
              <a:rPr lang="en-GB" sz="1800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Rahman</a:t>
            </a:r>
            <a:endParaRPr sz="1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Project Guide</a:t>
            </a:r>
            <a:endParaRPr sz="1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of Computer Science </a:t>
            </a: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and 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Engineering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233" y="4443984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Engineering</a:t>
            </a:r>
            <a:endParaRPr lang="en-US" sz="18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Dr.Blessed</a:t>
            </a:r>
            <a:r>
              <a:rPr lang="en-US" sz="18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Prince</a:t>
            </a:r>
            <a:endParaRPr lang="en-US" sz="1800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GB" altLang="en-US" sz="1800" b="1" i="0" u="none" strike="noStrike" cap="none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Muthuraju V</a:t>
            </a:r>
            <a:endParaRPr lang="en-US" altLang="en-US" sz="1800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lang="en-US" sz="1800" b="1" i="0" u="none" strike="noStrike" cap="none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7185" y="2729865"/>
          <a:ext cx="5862955" cy="1502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1960"/>
                <a:gridCol w="2880995"/>
              </a:tblGrid>
              <a:tr h="588010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GB" sz="1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7365D"/>
                          </a:solidFill>
                          <a:effectLst/>
                          <a:uLnTx/>
                          <a:uFillTx/>
                          <a:latin typeface="+mj-lt"/>
                          <a:cs typeface="+mj-lt"/>
                          <a:sym typeface="Arial" panose="020B0604020202020204"/>
                        </a:rPr>
                        <a:t>Roll Number</a:t>
                      </a:r>
                      <a:endParaRPr kumimoji="0" lang="en-GB" sz="1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17365D"/>
                        </a:solidFill>
                        <a:effectLst/>
                        <a:uLnTx/>
                        <a:uFillTx/>
                        <a:latin typeface="+mj-lt"/>
                        <a:cs typeface="+mj-lt"/>
                        <a:sym typeface="Arial" panose="020B0604020202020204"/>
                      </a:endParaRPr>
                    </a:p>
                    <a:p>
                      <a:pPr algn="ctr"/>
                      <a:endParaRPr lang="en-IN" dirty="0">
                        <a:latin typeface="+mj-lt"/>
                        <a:cs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Student Name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20221CSE0392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LAVANYA</a:t>
                      </a:r>
                      <a:r>
                        <a:rPr lang="en-US" baseline="0" dirty="0" smtClean="0"/>
                        <a:t>  M</a:t>
                      </a:r>
                      <a:endParaRPr lang="en-IN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20221CSE0266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SUPRAJA</a:t>
                      </a:r>
                      <a:r>
                        <a:rPr lang="en-US" baseline="0" dirty="0" smtClean="0"/>
                        <a:t>  POSINA</a:t>
                      </a:r>
                      <a:endParaRPr lang="en-IN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20221CSE0385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CHETHANA</a:t>
                      </a:r>
                      <a:r>
                        <a:rPr lang="en-IN" baseline="0" dirty="0" smtClean="0"/>
                        <a:t> T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1249680"/>
            <a:ext cx="10668000" cy="4107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Abstract</a:t>
            </a:r>
            <a:endParaRPr lang="en-US" altLang="en-US" sz="1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Literature Survey</a:t>
            </a:r>
            <a:endParaRPr lang="en-US" altLang="en-US" sz="1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Objectives</a:t>
            </a:r>
            <a:endParaRPr lang="en-US" sz="1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Existing Methods and Drawbacks</a:t>
            </a:r>
            <a:endParaRPr lang="en-US" altLang="en-US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Proposed Method &amp; Feasibility Study</a:t>
            </a:r>
            <a:endParaRPr lang="en-US" altLang="en-US" sz="15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Architecture Diagram</a:t>
            </a:r>
            <a:endParaRPr lang="en-US" altLang="en-US" sz="1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Modules</a:t>
            </a:r>
            <a:endParaRPr lang="en-US" altLang="en-US" sz="1500">
              <a:latin typeface="Cambria" panose="02040503050406030204" pitchFamily="18" charset="0"/>
              <a:cs typeface="Cambria" panose="02040503050406030204" pitchFamily="18" charset="0"/>
              <a:sym typeface="+mn-ea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Hardware and Software Details</a:t>
            </a:r>
            <a:endParaRPr lang="en-US" altLang="en-US" sz="1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Timeline (Gantt Chart)</a:t>
            </a:r>
            <a:endParaRPr lang="en-US" altLang="en-US" sz="1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References</a:t>
            </a:r>
            <a:endParaRPr lang="en-US" altLang="en-US" sz="1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Abstract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altLang="en-US" sz="2285" b="1" dirty="0">
                <a:latin typeface="Cambria" panose="02040503050406030204" pitchFamily="18" charset="0"/>
                <a:cs typeface="Cambria" panose="02040503050406030204" pitchFamily="18" charset="0"/>
              </a:rPr>
              <a:t>Concise overview:</a:t>
            </a:r>
            <a:endParaRPr lang="en-US" altLang="en-US" sz="2285" b="1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76200" indent="0">
              <a:buNone/>
            </a:pPr>
            <a:endParaRPr lang="en-US" altLang="en-US" sz="2285" b="1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Introduction: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 vary in quality, and there is no centralized system for students, reviewers, and committees to collaboratively evaluate them, leading to inconsistent learning outcomes.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web-based platform that enables role-based review, rating, and approval of textbooks, with dashboards and analytics to support academic decision-making.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React,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TailwindCSS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provides login-based access for students, reviewers, and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stores reviews locally (extendable to databases), and visualizes results with interactive charts.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US" altLang="en-US" sz="2285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Literature Survey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870" y="1083366"/>
            <a:ext cx="11738720" cy="4822134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One of the first large reviews of introductory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textbooks was done by Cobb. He inspectively examined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sixteen samples. The findings of his revealed significantdifferences in their construction, clarity and teaching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method. This is due to such large deviations, and unless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teachers have an organized mode, it becomes difficult to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choose the best one. Works such as his actually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demonstrated why good evaluation techniques were so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important [1].</a:t>
            </a:r>
            <a:endParaRPr lang="en-US" altLang="en-GB" sz="20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Subsequently, scholars began to examine the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manner in which reviewers interact with the books.Gurung and Martin came to the Textbook Assessment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and Usage Scale, which was shortened to TAUS. The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tool was used to test the manner in which students and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teachers process and understand textbook material. They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discovered that individual variables, including interest in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the subject or prior knowledge are significant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contributors to the ratings. A good textbook may not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receive the same grades even when reviewed by different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individuals based on his or her perception [2].</a:t>
            </a:r>
            <a:endParaRPr lang="en-US" altLang="en-GB" sz="20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After that Fey and Matthes presented a rather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simple checklist of high quality textbooks. What became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apparent in their review is that those that are the best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possess proper facts, reasonable layout, absence of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cultural or bias concerns and are suited to the learning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objectives. Their ideas hold real value. They offer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schools and assessors a platform upon which decisions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are made [3].</a:t>
            </a:r>
            <a:endParaRPr lang="en-US" altLang="en-GB" sz="20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GB" sz="2000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Literature Survey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Mohammadi and Abdi examined real assessments in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upper classes and classrooms. Their case considered the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number of tests that are overloaded with subjective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feelings. The result of that is uneven results throughout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the board. They have mentioned that applying formal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techniques, including online techniques, reduces errors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and allows maintaining consistency [4].</a:t>
            </a:r>
            <a:endParaRPr lang="en-US" altLang="en-GB" sz="2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Mahmood realistically assessed outdated evaluation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arrangements. He described the fact that there are very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many places which claim to go through textbooks but do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not live up to standards. He termed it as a deception of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assessment. The system appears to be well arranged on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the surface, yet, it does not measure books efficiently on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the quality aspect. All this shows that there is a need to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have consistent rules and training of individuals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conducting the reviews [5].</a:t>
            </a:r>
            <a:endParaRPr lang="en-US" altLang="en-GB" sz="2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A major step in the construction of those systems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was made by Ivic, Antic, and Pesikan. They compiled a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comprehensive instruction on textbook requirements. It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goes in dispensation such as page setup, pictures, clearcut writing, fit to learn and its approachability. Their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entire strategy is lauded by creating more consistent and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reliable reviews [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6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].</a:t>
            </a:r>
            <a:endParaRPr lang="en-US" altLang="en-GB" sz="20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Objectives</a:t>
            </a: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develop a web-based platform for evaluating the quality of textbooks, reference books, and e-books.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provide a standardized assessment framework with predefined quality parameters and </a:t>
            </a:r>
            <a:r>
              <a:rPr lang="en-US" dirty="0" err="1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weightages</a:t>
            </a:r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enable secure reviewer authentication and role-based access control.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automate the scoring and report generation process for quick decision-making.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create a centralized database for storing book details, reviews, and historical records.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ensure transparency, consistency, and efficiency in the evaluation process.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035" y="437198"/>
            <a:ext cx="10668000" cy="487500"/>
          </a:xfrm>
        </p:spPr>
        <p:txBody>
          <a:bodyPr/>
          <a:lstStyle/>
          <a:p>
            <a:r>
              <a:rPr lang="en-US" altLang="en-US"/>
              <a:t>Existing Methods and Drawbacks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035" y="1143000"/>
            <a:ext cx="11235690" cy="4953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Expert committee reviews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Accurate but time-consuming, costly, and sometimes subjective.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Student/teacher surveys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Easy to collect but prone to bias and low response rates.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Online ratings (Amazon, portals)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Accessible but vulnerable to fake or non-expert reviews.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endorsements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Quick but often biased or commercially influenced.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content checks (NLP, plagiarism, readability)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Scalable but miss conceptual depth and pedagogy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Drawback summary: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methods are either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 and resource-intensive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 but unreliable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lacking a balanced, transparent system for consistent textbook quality evaluation.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78460" y="1143000"/>
            <a:ext cx="1110234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Proposed Method: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using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React,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TailwindCSS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responsive and user-friendly interface.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Students/reviewers submit ratings and comments, while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/committees approve books and view analytics.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initially with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demonstration, but designed for extension to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 +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dashboards using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summarize subject-wise averages and overall textbook performance.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Feasibility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Built with proven, lightweight, open-source tools.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Economic: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Low cost; runs on standard hardware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Scalable: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 extend to real databases and cloud deployment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85433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895725" y="2016760"/>
            <a:ext cx="338201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/>
              <a:t>Chatbot messenger</a:t>
            </a:r>
            <a:endParaRPr lang="en-US"/>
          </a:p>
        </p:txBody>
      </p:sp>
      <p:pic>
        <p:nvPicPr>
          <p:cNvPr id="11266" name="Picture 2" descr="C:\Users\91934\Downloads\Architecture_Diagram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72735" y="1093490"/>
            <a:ext cx="10560456" cy="500250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Modules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735" y="1143001"/>
            <a:ext cx="10668000" cy="49530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Role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login and session storage.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role-based access for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Student, Reviewer, and Admin/Committee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textbooks with details (title, author, subject, rating).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searching, filtering, and browsing books.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&amp; Rating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Students/Reviewers submit reviews with ratings and comments.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updates aggregated book scores.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Admin/Committee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Approves or rejects books.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performance and ensures quality standards.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Reporting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visual dashboards.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subject-wise averages and comparison charts.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(demo).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to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persistence.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00355" y="1143000"/>
            <a:ext cx="1157097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Hardware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457200" algn="just">
              <a:spcBef>
                <a:spcPts val="0"/>
              </a:spcBef>
              <a:buSzPct val="100000"/>
            </a:pPr>
            <a:r>
              <a:rPr lang="en-US" alt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Laptop/Server,</a:t>
            </a:r>
            <a:endParaRPr lang="en-US" alt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457200" algn="just">
              <a:spcBef>
                <a:spcPts val="0"/>
              </a:spcBef>
              <a:buSzPct val="100000"/>
            </a:pPr>
            <a:r>
              <a:rPr lang="en-US" alt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Internet.</a:t>
            </a:r>
            <a:endParaRPr lang="en-US" alt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Node.js &amp;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Node 18.x LTS (or Node 20.x);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bundled.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with: node -v and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-v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(recommended) or Notepad / Notepad++.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version control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CLI).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Chrome, Firefox, Edge (latest stable) for testing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work: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React(v18+) with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Charts: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540" y="1116963"/>
            <a:ext cx="9091942" cy="46576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References(IEEE paper format)</a:t>
            </a:r>
            <a:endParaRPr lang="en-US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7500" lnSpcReduction="20000"/>
          </a:bodyPr>
          <a:lstStyle/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[1] M. S. Al-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Ajlan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 and M. A. Al-Khalifa, "Towards the development of an automated evaluation tool for digital educational resources,"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Advanced Computer Science and Applications (IJACSA)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vol. 7, no. 7, pp. 204–210, 2016.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[2] N. G. T.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Izquierdo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L. A. G. Villalobos, and J. D. M.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Ramírez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"A framework for the evaluation of e-learning materials," in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Proc. IEEE Global Engineering Education Conf. (EDUCON)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Abu Dhabi, UAE, 2016, pp. 1129–1134.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[3] R. K. Singh and A. Sharma, "Design and development of web-based evaluation system for academic resources,"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Computer Applications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vol. 183, no. 8, pp. 25–30, June 2021.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[4] T. M. Connolly and E. A.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Stansfield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"Evaluating the quality of learning resources: A web-based approach," in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Proc. IEEE International Conf. on Advanced Learning Technologies (ICALT)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Athens, Greece, 2014, pp. 37–41.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[5] M. A. Al-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Emran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"Towards an intelligent framework for textbook evaluation in higher education,"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Education and Information Technologies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vol. 24, no. 2, pp. 1453–1468, Mar. 2019.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[6] S. R. K.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Somasekhar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P. V. Kumar, and R. J. Reddy, "Automated assessment of educational content using multi-criteria analysis," in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Proc. IEEE International Conf. on Technology for Education (T4E)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Mumbai, India, 2020, pp. 215–220.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dirty="0" smtClean="0">
                <a:sym typeface="+mn-ea"/>
              </a:rPr>
              <a:t>References(IEEE paper format)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7] I. Ivi</a:t>
            </a:r>
            <a:r>
              <a:rPr lang="en-US" altLang="en-US" sz="2000" dirty="0">
                <a:latin typeface="Cambria" panose="02040503050406030204"/>
                <a:ea typeface="Cambria" panose="02040503050406030204"/>
                <a:sym typeface="+mn-ea"/>
              </a:rPr>
              <a:t>ć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, S. Anti</a:t>
            </a:r>
            <a:r>
              <a:rPr lang="en-US" altLang="en-US" sz="2000" dirty="0">
                <a:latin typeface="Cambria" panose="02040503050406030204"/>
                <a:ea typeface="Cambria" panose="02040503050406030204"/>
                <a:sym typeface="+mn-ea"/>
              </a:rPr>
              <a:t>ć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, and A. Pe</a:t>
            </a:r>
            <a:r>
              <a:rPr lang="en-US" altLang="en-US" sz="2000" dirty="0">
                <a:latin typeface="Cambria" panose="02040503050406030204"/>
                <a:ea typeface="Cambria" panose="02040503050406030204"/>
                <a:sym typeface="+mn-ea"/>
              </a:rPr>
              <a:t>š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ikan, eds., Textbook Quality: A Guide to Textbook Standards,</a:t>
            </a:r>
            <a:endParaRPr lang="en-US" altLang="en-GB" sz="2000" dirty="0">
              <a:latin typeface="Cambria" panose="02040503050406030204"/>
              <a:ea typeface="Cambria" panose="020405030504060302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vol. 2, G</a:t>
            </a:r>
            <a:r>
              <a:rPr lang="en-US" altLang="en-US" sz="2000" dirty="0">
                <a:latin typeface="Cambria" panose="02040503050406030204"/>
                <a:ea typeface="Cambria" panose="02040503050406030204"/>
                <a:sym typeface="+mn-ea"/>
              </a:rPr>
              <a:t>ö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ttingen: V&amp;R unipress GmbH, 2013.</a:t>
            </a:r>
            <a:endParaRPr lang="en-US" altLang="en-GB" sz="2000" dirty="0">
              <a:latin typeface="Cambria" panose="02040503050406030204"/>
              <a:ea typeface="Cambria" panose="020405030504060302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[8] O. Yasar, “A comparative analysis of assessment and evaluation exercises included in</a:t>
            </a:r>
            <a:r>
              <a:rPr lang="en-GB" altLang="en-US" sz="2000" dirty="0">
                <a:latin typeface="Cambria" panose="02040503050406030204"/>
                <a:ea typeface="Cambria" panose="02040503050406030204"/>
                <a:sym typeface="+mn-ea"/>
              </a:rPr>
              <a:t> 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geography textbooks written according to the 2005 secondary education geography</a:t>
            </a:r>
            <a:r>
              <a:rPr lang="en-GB" altLang="en-US" sz="2000" dirty="0">
                <a:latin typeface="Cambria" panose="02040503050406030204"/>
                <a:ea typeface="Cambria" panose="02040503050406030204"/>
                <a:sym typeface="+mn-ea"/>
              </a:rPr>
              <a:t> 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curriculum and textbooks of the former curriculum in Turkey,” International Journal of</a:t>
            </a:r>
            <a:r>
              <a:rPr lang="en-GB" altLang="en-US" sz="2000" dirty="0">
                <a:latin typeface="Cambria" panose="02040503050406030204"/>
                <a:ea typeface="Cambria" panose="02040503050406030204"/>
                <a:sym typeface="+mn-ea"/>
              </a:rPr>
              <a:t> 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Progressive Education, vol. 5, no. 1, pp. 45–68, 2009.</a:t>
            </a:r>
            <a:endParaRPr lang="en-US" altLang="en-GB" sz="2000" dirty="0">
              <a:latin typeface="Cambria" panose="02040503050406030204"/>
              <a:ea typeface="Cambria" panose="020405030504060302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[9] P. Race, The Lecturer’s Toolkit: A Practical Guide to Assessment, Learning and Teaching,</a:t>
            </a:r>
            <a:r>
              <a:rPr lang="en-GB" altLang="en-US" sz="2000" dirty="0">
                <a:latin typeface="Cambria" panose="02040503050406030204"/>
                <a:ea typeface="Cambria" panose="02040503050406030204"/>
                <a:sym typeface="+mn-ea"/>
              </a:rPr>
              <a:t> 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London: Routledge, 2019.</a:t>
            </a:r>
            <a:endParaRPr lang="en-US" altLang="en-GB" sz="2000" dirty="0">
              <a:latin typeface="Cambria" panose="02040503050406030204"/>
              <a:ea typeface="Cambria" panose="020405030504060302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[10] J. N. Giger and L. Haddad, Transcultural Nursing: Assessment and Intervention, ElsevierHealth Sciences, 2020.</a:t>
            </a:r>
            <a:endParaRPr lang="en-US" altLang="en-GB" sz="2000" dirty="0">
              <a:latin typeface="Cambria" panose="02040503050406030204"/>
              <a:ea typeface="Cambria" panose="02040503050406030204"/>
            </a:endParaRPr>
          </a:p>
          <a:p>
            <a:endParaRPr lang="en-GB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 link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  <a:hlinkClick r:id="rId1"/>
              </a:rPr>
              <a:t>https://github.com/Lavanya7004/Quality-Assesment-Capstone 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461*115"/>
  <p:tag name="TABLE_ENDDRAG_RECT" val="26*217*461*115"/>
</p:tagLst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9128</Words>
  <Application>WPS Presentation</Application>
  <PresentationFormat>Custom</PresentationFormat>
  <Paragraphs>186</Paragraphs>
  <Slides>16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Times New Roman</vt:lpstr>
      <vt:lpstr>Microsoft YaHei</vt:lpstr>
      <vt:lpstr>Arial Unicode MS</vt:lpstr>
      <vt:lpstr>Cambria</vt:lpstr>
      <vt:lpstr>Sylfaen</vt:lpstr>
      <vt:lpstr>Bioinformatics</vt:lpstr>
      <vt:lpstr>PSCS_46_ Application for Assessment of Quality of Textbook/Reference Books/E-Book</vt:lpstr>
      <vt:lpstr>Content</vt:lpstr>
      <vt:lpstr>Abstract</vt:lpstr>
      <vt:lpstr>Literature Survey</vt:lpstr>
      <vt:lpstr>PowerPoint 演示文稿</vt:lpstr>
      <vt:lpstr>Objectives</vt:lpstr>
      <vt:lpstr>Existing Methods and Drawbacks</vt:lpstr>
      <vt:lpstr>Proposed Method &amp; Feasibility Study</vt:lpstr>
      <vt:lpstr>Architecture Diagram</vt:lpstr>
      <vt:lpstr>Modules</vt:lpstr>
      <vt:lpstr>Hardware and Software Details</vt:lpstr>
      <vt:lpstr>Timeline (Gantt Chart)</vt:lpstr>
      <vt:lpstr>References(IEEE paper format)</vt:lpstr>
      <vt:lpstr>PowerPoint 演示文稿</vt:lpstr>
      <vt:lpstr>github link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WPS_1679405375</cp:lastModifiedBy>
  <cp:revision>60</cp:revision>
  <dcterms:created xsi:type="dcterms:W3CDTF">2025-08-11T14:02:00Z</dcterms:created>
  <dcterms:modified xsi:type="dcterms:W3CDTF">2025-11-27T16:58:37Z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610D6A119AE44C8EBE7026E562C07027_13</vt:lpwstr>
  </property>
  <property fmtid="{D5CDD505-2E9C-101B-9397-08002B2CF9AE}" pid="3" name="KSOProductBuildVer">
    <vt:lpwstr>2057-12.2.0.23155</vt:lpwstr>
  </property>
</Properties>
</file>