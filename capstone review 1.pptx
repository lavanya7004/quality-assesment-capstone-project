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5"/>
  </p:notesMasterIdLst>
  <p:sldIdLst>
    <p:sldId id="256" r:id="rId2"/>
    <p:sldId id="269" r:id="rId3"/>
    <p:sldId id="257" r:id="rId4"/>
    <p:sldId id="274" r:id="rId5"/>
    <p:sldId id="275" r:id="rId6"/>
    <p:sldId id="276" r:id="rId7"/>
    <p:sldId id="271" r:id="rId8"/>
    <p:sldId id="277" r:id="rId9"/>
    <p:sldId id="278" r:id="rId10"/>
    <p:sldId id="268" r:id="rId11"/>
    <p:sldId id="270" r:id="rId12"/>
    <p:sldId id="265" r:id="rId13"/>
    <p:sldId id="26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Lavanya7004/Quality-Assesment-Capstone-Projec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IN" sz="2400" dirty="0">
                <a:solidFill>
                  <a:schemeClr val="tx1"/>
                </a:solidFill>
                <a:latin typeface="Cambria" panose="02040503050406030204" pitchFamily="18" charset="0"/>
                <a:ea typeface="Cambria" panose="02040503050406030204" pitchFamily="18" charset="0"/>
              </a:rPr>
              <a:t>PSCS_46_Application for Assessment of Quality of Textbook/Reference Books/E-Book</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CSE_169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Md Zia Ur Rahman</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783122980"/>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cs typeface="Verdana"/>
                <a:sym typeface="Verdana"/>
              </a:rPr>
              <a:t>Blessed Princy</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cs typeface="Verdana"/>
                <a:sym typeface="Verdana"/>
              </a:rPr>
              <a:t>Mr. Muthuraj</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6" name="Table 5">
            <a:extLst>
              <a:ext uri="{FF2B5EF4-FFF2-40B4-BE49-F238E27FC236}">
                <a16:creationId xmlns:a16="http://schemas.microsoft.com/office/drawing/2014/main" id="{302BA938-9258-AC37-0AC3-A8A9C7983687}"/>
              </a:ext>
            </a:extLst>
          </p:cNvPr>
          <p:cNvGraphicFramePr>
            <a:graphicFrameLocks noGrp="1"/>
          </p:cNvGraphicFramePr>
          <p:nvPr>
            <p:extLst>
              <p:ext uri="{D42A27DB-BD31-4B8C-83A1-F6EECF244321}">
                <p14:modId xmlns:p14="http://schemas.microsoft.com/office/powerpoint/2010/main" val="2858738045"/>
              </p:ext>
            </p:extLst>
          </p:nvPr>
        </p:nvGraphicFramePr>
        <p:xfrm>
          <a:off x="297926" y="2687320"/>
          <a:ext cx="5413880" cy="1483360"/>
        </p:xfrm>
        <a:graphic>
          <a:graphicData uri="http://schemas.openxmlformats.org/drawingml/2006/table">
            <a:tbl>
              <a:tblPr firstRow="1" bandRow="1"/>
              <a:tblGrid>
                <a:gridCol w="2706940">
                  <a:extLst>
                    <a:ext uri="{9D8B030D-6E8A-4147-A177-3AD203B41FA5}">
                      <a16:colId xmlns:a16="http://schemas.microsoft.com/office/drawing/2014/main" val="3707755692"/>
                    </a:ext>
                  </a:extLst>
                </a:gridCol>
                <a:gridCol w="2706940">
                  <a:extLst>
                    <a:ext uri="{9D8B030D-6E8A-4147-A177-3AD203B41FA5}">
                      <a16:colId xmlns:a16="http://schemas.microsoft.com/office/drawing/2014/main" val="3962260636"/>
                    </a:ext>
                  </a:extLst>
                </a:gridCol>
              </a:tblGrid>
              <a:tr h="370840">
                <a:tc>
                  <a:txBody>
                    <a:bodyPr/>
                    <a:lstStyle/>
                    <a:p>
                      <a:endParaRPr lang="en-IN"/>
                    </a:p>
                  </a:txBody>
                  <a:tcPr/>
                </a:tc>
                <a:tc>
                  <a:txBody>
                    <a:bodyPr/>
                    <a:lstStyle/>
                    <a:p>
                      <a:endParaRPr lang="en-IN"/>
                    </a:p>
                  </a:txBody>
                  <a:tcPr/>
                </a:tc>
                <a:extLst>
                  <a:ext uri="{0D108BD9-81ED-4DB2-BD59-A6C34878D82A}">
                    <a16:rowId xmlns:a16="http://schemas.microsoft.com/office/drawing/2014/main" val="391146773"/>
                  </a:ext>
                </a:extLst>
              </a:tr>
              <a:tr h="370840">
                <a:tc>
                  <a:txBody>
                    <a:bodyPr/>
                    <a:lstStyle/>
                    <a:p>
                      <a:r>
                        <a:rPr lang="en-IN" dirty="0"/>
                        <a:t>20221CSE0392</a:t>
                      </a:r>
                    </a:p>
                  </a:txBody>
                  <a:tcPr/>
                </a:tc>
                <a:tc>
                  <a:txBody>
                    <a:bodyPr/>
                    <a:lstStyle/>
                    <a:p>
                      <a:r>
                        <a:rPr lang="en-IN" dirty="0"/>
                        <a:t>LAVANYA M</a:t>
                      </a:r>
                    </a:p>
                  </a:txBody>
                  <a:tcPr/>
                </a:tc>
                <a:extLst>
                  <a:ext uri="{0D108BD9-81ED-4DB2-BD59-A6C34878D82A}">
                    <a16:rowId xmlns:a16="http://schemas.microsoft.com/office/drawing/2014/main" val="3714209622"/>
                  </a:ext>
                </a:extLst>
              </a:tr>
              <a:tr h="370840">
                <a:tc>
                  <a:txBody>
                    <a:bodyPr/>
                    <a:lstStyle/>
                    <a:p>
                      <a:r>
                        <a:rPr lang="en-IN" dirty="0"/>
                        <a:t>20221CSE0266</a:t>
                      </a:r>
                    </a:p>
                  </a:txBody>
                  <a:tcPr/>
                </a:tc>
                <a:tc>
                  <a:txBody>
                    <a:bodyPr/>
                    <a:lstStyle/>
                    <a:p>
                      <a:r>
                        <a:rPr lang="en-IN" dirty="0"/>
                        <a:t>POSINA SUPRAJA</a:t>
                      </a:r>
                    </a:p>
                  </a:txBody>
                  <a:tcPr/>
                </a:tc>
                <a:extLst>
                  <a:ext uri="{0D108BD9-81ED-4DB2-BD59-A6C34878D82A}">
                    <a16:rowId xmlns:a16="http://schemas.microsoft.com/office/drawing/2014/main" val="2004435060"/>
                  </a:ext>
                </a:extLst>
              </a:tr>
              <a:tr h="370840">
                <a:tc>
                  <a:txBody>
                    <a:bodyPr/>
                    <a:lstStyle/>
                    <a:p>
                      <a:r>
                        <a:rPr lang="en-IN" dirty="0"/>
                        <a:t>20221CSE0385</a:t>
                      </a:r>
                    </a:p>
                  </a:txBody>
                  <a:tcPr/>
                </a:tc>
                <a:tc>
                  <a:txBody>
                    <a:bodyPr/>
                    <a:lstStyle/>
                    <a:p>
                      <a:r>
                        <a:rPr lang="en-IN" dirty="0"/>
                        <a:t>TALLURU CHETHANA</a:t>
                      </a:r>
                    </a:p>
                  </a:txBody>
                  <a:tcPr/>
                </a:tc>
                <a:extLst>
                  <a:ext uri="{0D108BD9-81ED-4DB2-BD59-A6C34878D82A}">
                    <a16:rowId xmlns:a16="http://schemas.microsoft.com/office/drawing/2014/main" val="2354507458"/>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PSCS_46</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7500" lnSpcReduction="20000"/>
          </a:bodyPr>
          <a:lstStyle/>
          <a:p>
            <a:pPr marL="342900" lvl="0" indent="-190500" algn="just">
              <a:spcBef>
                <a:spcPts val="0"/>
              </a:spcBef>
              <a:buNone/>
            </a:pPr>
            <a:r>
              <a:rPr lang="en-US" sz="3600" b="1" dirty="0">
                <a:latin typeface="Cambria" panose="02040503050406030204" pitchFamily="18" charset="0"/>
                <a:ea typeface="Cambria" panose="02040503050406030204" pitchFamily="18" charset="0"/>
              </a:rPr>
              <a:t>Organization: </a:t>
            </a:r>
            <a:r>
              <a:rPr lang="en-US" sz="3600" dirty="0">
                <a:latin typeface="Cambria" panose="02040503050406030204" pitchFamily="18" charset="0"/>
                <a:ea typeface="Cambria" panose="02040503050406030204" pitchFamily="18" charset="0"/>
              </a:rPr>
              <a:t>Ministry of AYUSH</a:t>
            </a:r>
          </a:p>
          <a:p>
            <a:pPr marL="342900" lvl="0" indent="-190500" algn="just">
              <a:lnSpc>
                <a:spcPct val="200000"/>
              </a:lnSpc>
              <a:spcBef>
                <a:spcPts val="0"/>
              </a:spcBef>
              <a:buNone/>
            </a:pPr>
            <a:r>
              <a:rPr lang="en-US" sz="3600" b="1" dirty="0">
                <a:latin typeface="Cambria" panose="02040503050406030204" pitchFamily="18" charset="0"/>
                <a:ea typeface="Cambria" panose="02040503050406030204" pitchFamily="18" charset="0"/>
              </a:rPr>
              <a:t>Category (Hardware / Software / Both) :</a:t>
            </a:r>
            <a:r>
              <a:rPr lang="en-US" sz="3600" dirty="0">
                <a:latin typeface="Cambria" panose="02040503050406030204" pitchFamily="18" charset="0"/>
                <a:ea typeface="Cambria" panose="02040503050406030204" pitchFamily="18" charset="0"/>
              </a:rPr>
              <a:t> Software</a:t>
            </a:r>
          </a:p>
          <a:p>
            <a:pPr marL="342900" indent="-190500" algn="just">
              <a:lnSpc>
                <a:spcPct val="200000"/>
              </a:lnSpc>
              <a:spcBef>
                <a:spcPts val="0"/>
              </a:spcBef>
              <a:buNone/>
            </a:pPr>
            <a:r>
              <a:rPr lang="en-US" sz="3600" b="1" dirty="0">
                <a:latin typeface="Cambria" panose="02040503050406030204" pitchFamily="18" charset="0"/>
                <a:ea typeface="Cambria" panose="02040503050406030204" pitchFamily="18" charset="0"/>
              </a:rPr>
              <a:t>Problem Description: </a:t>
            </a:r>
            <a:r>
              <a:rPr lang="en-US" sz="3100" dirty="0">
                <a:latin typeface="Cambria" panose="02040503050406030204" pitchFamily="18" charset="0"/>
                <a:ea typeface="Cambria" panose="02040503050406030204" pitchFamily="18" charset="0"/>
              </a:rPr>
              <a:t>The </a:t>
            </a:r>
            <a:r>
              <a:rPr lang="en-US" sz="3100" b="1" dirty="0">
                <a:latin typeface="Cambria" panose="02040503050406030204" pitchFamily="18" charset="0"/>
                <a:ea typeface="Cambria" panose="02040503050406030204" pitchFamily="18" charset="0"/>
              </a:rPr>
              <a:t>"Application for Assessment of Quality of Textbook/Reference Books/E-Book"</a:t>
            </a:r>
            <a:r>
              <a:rPr lang="en-US" sz="3100" dirty="0">
                <a:latin typeface="Cambria" panose="02040503050406030204" pitchFamily="18" charset="0"/>
                <a:ea typeface="Cambria" panose="02040503050406030204" pitchFamily="18" charset="0"/>
              </a:rPr>
              <a:t> is a web-based platform designed to evaluate the quality of academic and reference materials through structured feedback from authorized reviewers such as faculty members or subject experts. The system enables reviewers to log in, submit book details, and assess them based on predefined parameters including content relevance, accuracy, clarity, up-to-date information, and presentation. It automatically calculates an overall quality score using parameter-based weightages and generates summary reports for administrators. By replacing the manual, time-consuming, and inconsistent evaluation process with a standardized, automated, and data-driven approach, the application ensures transparency, efficiency, and better decision-making in selecting learning resources. Key features include reviewer authentication with role-based access, book submission and assessment forms, automated score computation, and summary dashboards with exportable reports, enabling institutions to maintain a centralized and reliable process for approving educational materials.</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152400" lvl="0" indent="0" algn="just">
              <a:lnSpc>
                <a:spcPct val="200000"/>
              </a:lnSpc>
              <a:spcBef>
                <a:spcPts val="0"/>
              </a:spcBef>
              <a:buNone/>
            </a:pPr>
            <a:r>
              <a:rPr lang="en-US" dirty="0">
                <a:latin typeface="Cambria" panose="02040503050406030204" pitchFamily="18" charset="0"/>
                <a:ea typeface="Cambria" panose="02040503050406030204" pitchFamily="18" charset="0"/>
              </a:rPr>
              <a:t>In academic institutions, the evaluation of textbooks, reference books, and e-books is often carried out manually by faculty members or subject experts. This process is time-consuming, lacks standardization, and is prone to inconsistencies and human bias. Feedback is usually stored in scattered formats, making it difficult to track, compare, or maintain historical records. Without a centralized and automated system, ensuring the quality, relevance, and up-to-date nature of learning resources becomes challenging. There is a need for a software-based solution that streamlines the evaluation process, standardizes scoring criteria, and generates transparent, data-driven reports for better decision-making in selecting academic materials.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B7875-0077-0209-9ABF-9A830BDC5BAC}"/>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Objectives</a:t>
            </a:r>
          </a:p>
        </p:txBody>
      </p:sp>
      <p:sp>
        <p:nvSpPr>
          <p:cNvPr id="3" name="Text Placeholder 2">
            <a:extLst>
              <a:ext uri="{FF2B5EF4-FFF2-40B4-BE49-F238E27FC236}">
                <a16:creationId xmlns:a16="http://schemas.microsoft.com/office/drawing/2014/main" id="{2A515DB0-C066-EB5D-8C0A-A0F7EF05C97D}"/>
              </a:ext>
            </a:extLst>
          </p:cNvPr>
          <p:cNvSpPr>
            <a:spLocks noGrp="1"/>
          </p:cNvSpPr>
          <p:nvPr>
            <p:ph type="body" idx="1"/>
          </p:nvPr>
        </p:nvSpPr>
        <p:spPr/>
        <p:txBody>
          <a:bodyPr/>
          <a:lstStyle/>
          <a:p>
            <a:r>
              <a:rPr lang="en-US" sz="2000" dirty="0">
                <a:latin typeface="Cambria" panose="02040503050406030204" pitchFamily="18" charset="0"/>
                <a:ea typeface="Cambria" panose="02040503050406030204" pitchFamily="18" charset="0"/>
              </a:rPr>
              <a:t>To develop a web-based platform for evaluating the quality of textbooks, reference books, and e-books.</a:t>
            </a:r>
          </a:p>
          <a:p>
            <a:r>
              <a:rPr lang="en-US" sz="2000" dirty="0">
                <a:latin typeface="Cambria" panose="02040503050406030204" pitchFamily="18" charset="0"/>
                <a:ea typeface="Cambria" panose="02040503050406030204" pitchFamily="18" charset="0"/>
              </a:rPr>
              <a:t>To provide a standardized assessment framework with predefined quality parameters and weightages.</a:t>
            </a:r>
          </a:p>
          <a:p>
            <a:r>
              <a:rPr lang="en-US" sz="2000" dirty="0">
                <a:latin typeface="Cambria" panose="02040503050406030204" pitchFamily="18" charset="0"/>
                <a:ea typeface="Cambria" panose="02040503050406030204" pitchFamily="18" charset="0"/>
              </a:rPr>
              <a:t>To enable secure reviewer authentication and role-based access control.</a:t>
            </a:r>
          </a:p>
          <a:p>
            <a:r>
              <a:rPr lang="en-US" sz="2000" dirty="0">
                <a:latin typeface="Cambria" panose="02040503050406030204" pitchFamily="18" charset="0"/>
                <a:ea typeface="Cambria" panose="02040503050406030204" pitchFamily="18" charset="0"/>
              </a:rPr>
              <a:t>To automate the scoring and report generation process for quick decision-making.</a:t>
            </a:r>
          </a:p>
          <a:p>
            <a:r>
              <a:rPr lang="en-US" sz="2000" dirty="0">
                <a:latin typeface="Cambria" panose="02040503050406030204" pitchFamily="18" charset="0"/>
                <a:ea typeface="Cambria" panose="02040503050406030204" pitchFamily="18" charset="0"/>
              </a:rPr>
              <a:t>To create a centralized database for storing book details, reviews, and historical records.</a:t>
            </a:r>
          </a:p>
          <a:p>
            <a:r>
              <a:rPr lang="en-US" sz="2000" dirty="0">
                <a:latin typeface="Cambria" panose="02040503050406030204" pitchFamily="18" charset="0"/>
                <a:ea typeface="Cambria" panose="02040503050406030204" pitchFamily="18" charset="0"/>
              </a:rPr>
              <a:t>To ensure transparency, consistency, and efficiency in the evaluation process.</a:t>
            </a:r>
          </a:p>
          <a:p>
            <a:pPr marL="76200" indent="0">
              <a:buNone/>
            </a:pPr>
            <a:endParaRPr lang="en-IN" dirty="0"/>
          </a:p>
        </p:txBody>
      </p:sp>
    </p:spTree>
    <p:extLst>
      <p:ext uri="{BB962C8B-B14F-4D97-AF65-F5344CB8AC3E}">
        <p14:creationId xmlns:p14="http://schemas.microsoft.com/office/powerpoint/2010/main" val="3891939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E9481-99F0-7633-0EB8-3750931CCF78}"/>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Background and Related work for Title Selection</a:t>
            </a:r>
          </a:p>
        </p:txBody>
      </p:sp>
      <p:sp>
        <p:nvSpPr>
          <p:cNvPr id="3" name="Text Placeholder 2">
            <a:extLst>
              <a:ext uri="{FF2B5EF4-FFF2-40B4-BE49-F238E27FC236}">
                <a16:creationId xmlns:a16="http://schemas.microsoft.com/office/drawing/2014/main" id="{9EEFF6D6-4D1E-B76A-C437-919841826579}"/>
              </a:ext>
            </a:extLst>
          </p:cNvPr>
          <p:cNvSpPr>
            <a:spLocks noGrp="1"/>
          </p:cNvSpPr>
          <p:nvPr>
            <p:ph type="body" idx="1"/>
          </p:nvPr>
        </p:nvSpPr>
        <p:spPr/>
        <p:txBody>
          <a:bodyPr>
            <a:normAutofit/>
          </a:bodyPr>
          <a:lstStyle/>
          <a:p>
            <a:pPr marL="76200" indent="0">
              <a:buNone/>
            </a:pPr>
            <a:r>
              <a:rPr lang="en-US" sz="1700" b="1" dirty="0">
                <a:latin typeface="Cambria" panose="02040503050406030204" pitchFamily="18" charset="0"/>
                <a:ea typeface="Cambria" panose="02040503050406030204" pitchFamily="18" charset="0"/>
              </a:rPr>
              <a:t>Background</a:t>
            </a:r>
          </a:p>
          <a:p>
            <a:r>
              <a:rPr lang="en-US" sz="1700" dirty="0">
                <a:latin typeface="Cambria" panose="02040503050406030204" pitchFamily="18" charset="0"/>
                <a:ea typeface="Cambria" panose="02040503050406030204" pitchFamily="18" charset="0"/>
              </a:rPr>
              <a:t>Quality of learning materials is critical for effective education.</a:t>
            </a:r>
          </a:p>
          <a:p>
            <a:r>
              <a:rPr lang="en-US" sz="1700" dirty="0">
                <a:latin typeface="Cambria" panose="02040503050406030204" pitchFamily="18" charset="0"/>
                <a:ea typeface="Cambria" panose="02040503050406030204" pitchFamily="18" charset="0"/>
              </a:rPr>
              <a:t>Current evaluation methods are manual, slow, and inconsistent.</a:t>
            </a:r>
          </a:p>
          <a:p>
            <a:r>
              <a:rPr lang="en-US" sz="1700" dirty="0">
                <a:latin typeface="Cambria" panose="02040503050406030204" pitchFamily="18" charset="0"/>
                <a:ea typeface="Cambria" panose="02040503050406030204" pitchFamily="18" charset="0"/>
              </a:rPr>
              <a:t>No centralized platform for storing and tracking book evaluations.</a:t>
            </a:r>
          </a:p>
          <a:p>
            <a:r>
              <a:rPr lang="en-US" sz="1700" dirty="0">
                <a:latin typeface="Cambria" panose="02040503050406030204" pitchFamily="18" charset="0"/>
                <a:ea typeface="Cambria" panose="02040503050406030204" pitchFamily="18" charset="0"/>
              </a:rPr>
              <a:t>Increasing need for standardized and automated assessment systems.</a:t>
            </a:r>
          </a:p>
          <a:p>
            <a:r>
              <a:rPr lang="en-US" sz="1700" dirty="0">
                <a:latin typeface="Cambria" panose="02040503050406030204" pitchFamily="18" charset="0"/>
                <a:ea typeface="Cambria" panose="02040503050406030204" pitchFamily="18" charset="0"/>
              </a:rPr>
              <a:t>Proposed application aims to digitize and streamline the process.</a:t>
            </a:r>
          </a:p>
          <a:p>
            <a:pPr marL="76200" indent="0">
              <a:buNone/>
            </a:pPr>
            <a:r>
              <a:rPr lang="en-US" sz="1700" b="1" dirty="0">
                <a:latin typeface="Cambria" panose="02040503050406030204" pitchFamily="18" charset="0"/>
                <a:ea typeface="Cambria" panose="02040503050406030204" pitchFamily="18" charset="0"/>
              </a:rPr>
              <a:t>Related Work</a:t>
            </a:r>
          </a:p>
          <a:p>
            <a:r>
              <a:rPr lang="en-US" sz="1700" dirty="0">
                <a:latin typeface="Cambria" panose="02040503050406030204" pitchFamily="18" charset="0"/>
                <a:ea typeface="Cambria" panose="02040503050406030204" pitchFamily="18" charset="0"/>
              </a:rPr>
              <a:t>Institutions often use rubrics, spreadsheets, or basic forms for evaluation.</a:t>
            </a:r>
          </a:p>
          <a:p>
            <a:r>
              <a:rPr lang="en-US" sz="1700" dirty="0">
                <a:latin typeface="Cambria" panose="02040503050406030204" pitchFamily="18" charset="0"/>
                <a:ea typeface="Cambria" panose="02040503050406030204" pitchFamily="18" charset="0"/>
              </a:rPr>
              <a:t>Existing systems are part of large ERP platforms — costly and complex.</a:t>
            </a:r>
          </a:p>
          <a:p>
            <a:r>
              <a:rPr lang="en-US" sz="1700" dirty="0">
                <a:latin typeface="Cambria" panose="02040503050406030204" pitchFamily="18" charset="0"/>
                <a:ea typeface="Cambria" panose="02040503050406030204" pitchFamily="18" charset="0"/>
              </a:rPr>
              <a:t>Research provides frameworks for quality parameters but lacks easy-to-use tools.</a:t>
            </a:r>
          </a:p>
          <a:p>
            <a:r>
              <a:rPr lang="en-US" sz="1700" dirty="0">
                <a:latin typeface="Cambria" panose="02040503050406030204" pitchFamily="18" charset="0"/>
                <a:ea typeface="Cambria" panose="02040503050406030204" pitchFamily="18" charset="0"/>
              </a:rPr>
              <a:t>Limited standalone applications tailored for academic book assessment.</a:t>
            </a:r>
          </a:p>
          <a:p>
            <a:r>
              <a:rPr lang="en-US" sz="1700" dirty="0">
                <a:latin typeface="Cambria" panose="02040503050406030204" pitchFamily="18" charset="0"/>
                <a:ea typeface="Cambria" panose="02040503050406030204" pitchFamily="18" charset="0"/>
              </a:rPr>
              <a:t>Our solution offers a lightweight, customizable, and automated platform.</a:t>
            </a:r>
          </a:p>
          <a:p>
            <a:pPr marL="76200" indent="0">
              <a:buNone/>
            </a:pPr>
            <a:endParaRPr lang="en-IN" dirty="0"/>
          </a:p>
        </p:txBody>
      </p:sp>
    </p:spTree>
    <p:extLst>
      <p:ext uri="{BB962C8B-B14F-4D97-AF65-F5344CB8AC3E}">
        <p14:creationId xmlns:p14="http://schemas.microsoft.com/office/powerpoint/2010/main" val="37761445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0" lvl="0" indent="0" eaLnBrk="0" fontAlgn="base" hangingPunct="0">
              <a:spcBef>
                <a:spcPct val="0"/>
              </a:spcBef>
              <a:spcAft>
                <a:spcPct val="0"/>
              </a:spcAft>
              <a:buClrTx/>
              <a:buSzTx/>
              <a:buNone/>
            </a:pPr>
            <a:r>
              <a:rPr lang="en-US" altLang="en-US" sz="1700" b="1" dirty="0">
                <a:solidFill>
                  <a:schemeClr val="tx1"/>
                </a:solidFill>
                <a:latin typeface="Cambria" panose="02040503050406030204" pitchFamily="18" charset="0"/>
                <a:ea typeface="Cambria" panose="02040503050406030204" pitchFamily="18" charset="0"/>
              </a:rPr>
              <a:t>Current Issue:</a:t>
            </a:r>
            <a:endParaRPr lang="en-US" altLang="en-US" sz="17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Manual evaluation is time-consuming, inconsistent, and lacks standardization.</a:t>
            </a: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Feedback is stored in scattered formats with no easy way to track or compare.</a:t>
            </a: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No automation for calculating scores or generating reports.</a:t>
            </a: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Decision-making is delayed due to lack of real-time data.</a:t>
            </a:r>
          </a:p>
          <a:p>
            <a:pPr marL="0" lvl="0" indent="0" eaLnBrk="0" fontAlgn="base" hangingPunct="0">
              <a:spcBef>
                <a:spcPct val="0"/>
              </a:spcBef>
              <a:spcAft>
                <a:spcPct val="0"/>
              </a:spcAft>
              <a:buClrTx/>
              <a:buSzTx/>
              <a:buNone/>
            </a:pPr>
            <a:endParaRPr lang="en-US" altLang="en-US" sz="17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r>
              <a:rPr lang="en-US" altLang="en-US" sz="1700" b="1" dirty="0">
                <a:solidFill>
                  <a:schemeClr val="tx1"/>
                </a:solidFill>
                <a:latin typeface="Cambria" panose="02040503050406030204" pitchFamily="18" charset="0"/>
                <a:ea typeface="Cambria" panose="02040503050406030204" pitchFamily="18" charset="0"/>
              </a:rPr>
              <a:t>Impact:</a:t>
            </a:r>
            <a:endParaRPr lang="en-US" altLang="en-US" sz="17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Poor quality or outdated materials may be approved.</a:t>
            </a: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Administrative burden on faculty and staff.</a:t>
            </a: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Limited transparency and accountability.</a:t>
            </a:r>
          </a:p>
          <a:p>
            <a:pPr marL="0" lvl="0" indent="0" eaLnBrk="0" fontAlgn="base" hangingPunct="0">
              <a:spcBef>
                <a:spcPct val="0"/>
              </a:spcBef>
              <a:spcAft>
                <a:spcPct val="0"/>
              </a:spcAft>
              <a:buClrTx/>
              <a:buSzTx/>
              <a:buNone/>
            </a:pPr>
            <a:endParaRPr lang="en-US" altLang="en-US" sz="17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r>
              <a:rPr lang="en-US" altLang="en-US" sz="1700" b="1" dirty="0">
                <a:solidFill>
                  <a:schemeClr val="tx1"/>
                </a:solidFill>
                <a:latin typeface="Cambria" panose="02040503050406030204" pitchFamily="18" charset="0"/>
                <a:ea typeface="Cambria" panose="02040503050406030204" pitchFamily="18" charset="0"/>
              </a:rPr>
              <a:t>Need:</a:t>
            </a:r>
            <a:endParaRPr lang="en-US" altLang="en-US" sz="1700"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sz="1700" dirty="0">
                <a:solidFill>
                  <a:schemeClr val="tx1"/>
                </a:solidFill>
                <a:latin typeface="Cambria" panose="02040503050406030204" pitchFamily="18" charset="0"/>
                <a:ea typeface="Cambria" panose="02040503050406030204" pitchFamily="18" charset="0"/>
              </a:rPr>
              <a:t>A </a:t>
            </a:r>
            <a:r>
              <a:rPr lang="en-US" altLang="en-US" sz="1700" b="1" dirty="0">
                <a:solidFill>
                  <a:schemeClr val="tx1"/>
                </a:solidFill>
                <a:latin typeface="Cambria" panose="02040503050406030204" pitchFamily="18" charset="0"/>
                <a:ea typeface="Cambria" panose="02040503050406030204" pitchFamily="18" charset="0"/>
              </a:rPr>
              <a:t>centralized</a:t>
            </a:r>
            <a:r>
              <a:rPr lang="en-US" altLang="en-US" sz="1700" dirty="0">
                <a:solidFill>
                  <a:schemeClr val="tx1"/>
                </a:solidFill>
                <a:latin typeface="Cambria" panose="02040503050406030204" pitchFamily="18" charset="0"/>
                <a:ea typeface="Cambria" panose="02040503050406030204" pitchFamily="18" charset="0"/>
              </a:rPr>
              <a:t>, </a:t>
            </a:r>
            <a:r>
              <a:rPr lang="en-US" altLang="en-US" sz="1700" b="1" dirty="0">
                <a:solidFill>
                  <a:schemeClr val="tx1"/>
                </a:solidFill>
                <a:latin typeface="Cambria" panose="02040503050406030204" pitchFamily="18" charset="0"/>
                <a:ea typeface="Cambria" panose="02040503050406030204" pitchFamily="18" charset="0"/>
              </a:rPr>
              <a:t>automated</a:t>
            </a:r>
            <a:r>
              <a:rPr lang="en-US" altLang="en-US" sz="1700" dirty="0">
                <a:solidFill>
                  <a:schemeClr val="tx1"/>
                </a:solidFill>
                <a:latin typeface="Cambria" panose="02040503050406030204" pitchFamily="18" charset="0"/>
                <a:ea typeface="Cambria" panose="02040503050406030204" pitchFamily="18" charset="0"/>
              </a:rPr>
              <a:t>, and </a:t>
            </a:r>
            <a:r>
              <a:rPr lang="en-US" altLang="en-US" sz="1700" b="1" dirty="0">
                <a:solidFill>
                  <a:schemeClr val="tx1"/>
                </a:solidFill>
                <a:latin typeface="Cambria" panose="02040503050406030204" pitchFamily="18" charset="0"/>
                <a:ea typeface="Cambria" panose="02040503050406030204" pitchFamily="18" charset="0"/>
              </a:rPr>
              <a:t>data-driven</a:t>
            </a:r>
            <a:r>
              <a:rPr lang="en-US" altLang="en-US" sz="1700" dirty="0">
                <a:solidFill>
                  <a:schemeClr val="tx1"/>
                </a:solidFill>
                <a:latin typeface="Cambria" panose="02040503050406030204" pitchFamily="18" charset="0"/>
                <a:ea typeface="Cambria" panose="02040503050406030204" pitchFamily="18" charset="0"/>
              </a:rPr>
              <a:t> system for quality assessment.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136C-0A32-D00B-107D-792DE63EBE70}"/>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Proposed Technology Stack</a:t>
            </a:r>
          </a:p>
        </p:txBody>
      </p:sp>
      <p:sp>
        <p:nvSpPr>
          <p:cNvPr id="3" name="Text Placeholder 2">
            <a:extLst>
              <a:ext uri="{FF2B5EF4-FFF2-40B4-BE49-F238E27FC236}">
                <a16:creationId xmlns:a16="http://schemas.microsoft.com/office/drawing/2014/main" id="{5C719E90-DD74-A86B-2597-2E1C159EACA2}"/>
              </a:ext>
            </a:extLst>
          </p:cNvPr>
          <p:cNvSpPr>
            <a:spLocks noGrp="1"/>
          </p:cNvSpPr>
          <p:nvPr>
            <p:ph type="body" idx="1"/>
          </p:nvPr>
        </p:nvSpPr>
        <p:spPr/>
        <p:txBody>
          <a:bodyPr>
            <a:normAutofit/>
          </a:bodyPr>
          <a:lstStyle/>
          <a:p>
            <a:pPr marL="76200" indent="0">
              <a:buNone/>
            </a:pPr>
            <a:r>
              <a:rPr lang="en-IN" sz="1800" b="1" dirty="0">
                <a:latin typeface="Cambria" panose="02040503050406030204" pitchFamily="18" charset="0"/>
                <a:ea typeface="Cambria" panose="02040503050406030204" pitchFamily="18" charset="0"/>
              </a:rPr>
              <a:t>Frontend:</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HTML5, CSS3, JavaScript</a:t>
            </a:r>
            <a:r>
              <a:rPr lang="en-IN" sz="1800" dirty="0">
                <a:latin typeface="Cambria" panose="02040503050406030204" pitchFamily="18" charset="0"/>
                <a:ea typeface="Cambria" panose="02040503050406030204" pitchFamily="18" charset="0"/>
              </a:rPr>
              <a:t> – Basic structure and styling.</a:t>
            </a:r>
          </a:p>
          <a:p>
            <a:r>
              <a:rPr lang="en-IN" sz="1800" b="1" dirty="0">
                <a:latin typeface="Cambria" panose="02040503050406030204" pitchFamily="18" charset="0"/>
                <a:ea typeface="Cambria" panose="02040503050406030204" pitchFamily="18" charset="0"/>
              </a:rPr>
              <a:t>Angular</a:t>
            </a:r>
            <a:r>
              <a:rPr lang="en-IN" sz="1800" dirty="0">
                <a:latin typeface="Cambria" panose="02040503050406030204" pitchFamily="18" charset="0"/>
                <a:ea typeface="Cambria" panose="02040503050406030204" pitchFamily="18" charset="0"/>
              </a:rPr>
              <a:t> – For building dynamic, responsive user interfaces.</a:t>
            </a:r>
          </a:p>
          <a:p>
            <a:pPr marL="76200" indent="0">
              <a:buNone/>
            </a:pPr>
            <a:r>
              <a:rPr lang="en-IN" sz="1800" b="1" dirty="0">
                <a:latin typeface="Cambria" panose="02040503050406030204" pitchFamily="18" charset="0"/>
                <a:ea typeface="Cambria" panose="02040503050406030204" pitchFamily="18" charset="0"/>
              </a:rPr>
              <a:t>Backend:</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Node.js</a:t>
            </a:r>
            <a:r>
              <a:rPr lang="en-IN" sz="1800" dirty="0">
                <a:latin typeface="Cambria" panose="02040503050406030204" pitchFamily="18" charset="0"/>
                <a:ea typeface="Cambria" panose="02040503050406030204" pitchFamily="18" charset="0"/>
              </a:rPr>
              <a:t> – Server-side logic and API handling.</a:t>
            </a:r>
          </a:p>
          <a:p>
            <a:r>
              <a:rPr lang="en-IN" sz="1800" b="1" dirty="0">
                <a:latin typeface="Cambria" panose="02040503050406030204" pitchFamily="18" charset="0"/>
                <a:ea typeface="Cambria" panose="02040503050406030204" pitchFamily="18" charset="0"/>
              </a:rPr>
              <a:t>Express.js</a:t>
            </a:r>
            <a:r>
              <a:rPr lang="en-IN" sz="1800" dirty="0">
                <a:latin typeface="Cambria" panose="02040503050406030204" pitchFamily="18" charset="0"/>
                <a:ea typeface="Cambria" panose="02040503050406030204" pitchFamily="18" charset="0"/>
              </a:rPr>
              <a:t> – Lightweight framework for routing and backend structure.</a:t>
            </a:r>
          </a:p>
          <a:p>
            <a:pPr marL="76200" indent="0">
              <a:buNone/>
            </a:pPr>
            <a:r>
              <a:rPr lang="en-IN" sz="1800" b="1" dirty="0">
                <a:latin typeface="Cambria" panose="02040503050406030204" pitchFamily="18" charset="0"/>
                <a:ea typeface="Cambria" panose="02040503050406030204" pitchFamily="18" charset="0"/>
              </a:rPr>
              <a:t>Database:</a:t>
            </a:r>
            <a:endParaRPr lang="en-IN" sz="1800"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MongoDB</a:t>
            </a:r>
            <a:r>
              <a:rPr lang="en-IN" sz="1800" dirty="0">
                <a:latin typeface="Cambria" panose="02040503050406030204" pitchFamily="18" charset="0"/>
                <a:ea typeface="Cambria" panose="02040503050406030204" pitchFamily="18" charset="0"/>
              </a:rPr>
              <a:t> – NoSQL database for storing book details, reviews, and scores.</a:t>
            </a:r>
          </a:p>
          <a:p>
            <a:pPr marL="76200" indent="0">
              <a:buNone/>
            </a:pPr>
            <a:r>
              <a:rPr lang="en-IN" sz="1800" b="1" dirty="0">
                <a:latin typeface="Cambria" panose="02040503050406030204" pitchFamily="18" charset="0"/>
                <a:ea typeface="Cambria" panose="02040503050406030204" pitchFamily="18" charset="0"/>
              </a:rPr>
              <a:t>Authentication &amp; Security:</a:t>
            </a:r>
            <a:endParaRPr lang="en-IN" sz="1800" dirty="0">
              <a:latin typeface="Cambria" panose="02040503050406030204" pitchFamily="18" charset="0"/>
              <a:ea typeface="Cambria" panose="02040503050406030204" pitchFamily="18" charset="0"/>
            </a:endParaRPr>
          </a:p>
          <a:p>
            <a:r>
              <a:rPr lang="en-IN" sz="1800" dirty="0">
                <a:latin typeface="Cambria" panose="02040503050406030204" pitchFamily="18" charset="0"/>
                <a:ea typeface="Cambria" panose="02040503050406030204" pitchFamily="18" charset="0"/>
              </a:rPr>
              <a:t>JWT (JSON Web Tokens) for secure login and role-based access control.</a:t>
            </a:r>
          </a:p>
          <a:p>
            <a:pPr marL="76200" indent="0">
              <a:buNone/>
            </a:pPr>
            <a:r>
              <a:rPr lang="en-IN" sz="1800" b="1" dirty="0">
                <a:latin typeface="Cambria" panose="02040503050406030204" pitchFamily="18" charset="0"/>
                <a:ea typeface="Cambria" panose="02040503050406030204" pitchFamily="18" charset="0"/>
              </a:rPr>
              <a:t>Other Tools:</a:t>
            </a:r>
            <a:endParaRPr lang="en-IN" sz="1800" dirty="0">
              <a:latin typeface="Cambria" panose="02040503050406030204" pitchFamily="18" charset="0"/>
              <a:ea typeface="Cambria" panose="02040503050406030204" pitchFamily="18" charset="0"/>
            </a:endParaRPr>
          </a:p>
          <a:p>
            <a:r>
              <a:rPr lang="en-IN" sz="1800" dirty="0">
                <a:latin typeface="Cambria" panose="02040503050406030204" pitchFamily="18" charset="0"/>
                <a:ea typeface="Cambria" panose="02040503050406030204" pitchFamily="18" charset="0"/>
              </a:rPr>
              <a:t>Chart.js / D3.js for report visualization.</a:t>
            </a:r>
          </a:p>
          <a:p>
            <a:r>
              <a:rPr lang="en-IN" sz="1800" dirty="0">
                <a:latin typeface="Cambria" panose="02040503050406030204" pitchFamily="18" charset="0"/>
                <a:ea typeface="Cambria" panose="02040503050406030204" pitchFamily="18" charset="0"/>
              </a:rPr>
              <a:t>Git &amp; GitHub for version control.</a:t>
            </a:r>
          </a:p>
          <a:p>
            <a:pPr marL="76200" indent="0">
              <a:buNone/>
            </a:pPr>
            <a:endParaRPr lang="en-IN" dirty="0"/>
          </a:p>
        </p:txBody>
      </p:sp>
    </p:spTree>
    <p:extLst>
      <p:ext uri="{BB962C8B-B14F-4D97-AF65-F5344CB8AC3E}">
        <p14:creationId xmlns:p14="http://schemas.microsoft.com/office/powerpoint/2010/main" val="162485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9ACF3-DF15-C314-883C-454F89C2CFA3}"/>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Innovation and Novel Contributions</a:t>
            </a:r>
          </a:p>
        </p:txBody>
      </p:sp>
      <p:sp>
        <p:nvSpPr>
          <p:cNvPr id="4" name="Rectangle 1">
            <a:extLst>
              <a:ext uri="{FF2B5EF4-FFF2-40B4-BE49-F238E27FC236}">
                <a16:creationId xmlns:a16="http://schemas.microsoft.com/office/drawing/2014/main" id="{1E563517-2B52-0FD8-9B37-E9F8661C698B}"/>
              </a:ext>
            </a:extLst>
          </p:cNvPr>
          <p:cNvSpPr>
            <a:spLocks noGrp="1" noChangeArrowheads="1"/>
          </p:cNvSpPr>
          <p:nvPr>
            <p:ph type="body" idx="1"/>
          </p:nvPr>
        </p:nvSpPr>
        <p:spPr bwMode="auto">
          <a:xfrm>
            <a:off x="812800" y="1131589"/>
            <a:ext cx="8161209" cy="2970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Standardized Evaluation Framework</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with predefined parameters and weightages.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Automated Scoring &amp; Real-Time Reporting</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faster decision-making.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Centralized Review Database</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storing and retrieving past evaluations.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Role-Based Access Control</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for secure reviewer and admin operations.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Customizable Parameters</a:t>
            </a:r>
            <a:r>
              <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to adapt evaluation criteria as per institutional needs.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60874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None/>
            </a:pPr>
            <a:r>
              <a:rPr lang="en-IN" dirty="0">
                <a:latin typeface="Cambria" panose="02040503050406030204" pitchFamily="18" charset="0"/>
                <a:ea typeface="Cambria" panose="02040503050406030204" pitchFamily="18" charset="0"/>
                <a:hlinkClick r:id="rId3"/>
              </a:rPr>
              <a:t>https://github.com/Lavanya7004/Quality-Assesment-Capstone Project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E6AE1D15-D9B3-6427-0A32-286E49A982EB}"/>
              </a:ext>
            </a:extLst>
          </p:cNvPr>
          <p:cNvPicPr>
            <a:picLocks noChangeAspect="1"/>
          </p:cNvPicPr>
          <p:nvPr/>
        </p:nvPicPr>
        <p:blipFill>
          <a:blip r:embed="rId3"/>
          <a:stretch>
            <a:fillRect/>
          </a:stretch>
        </p:blipFill>
        <p:spPr>
          <a:xfrm>
            <a:off x="1533824" y="1225343"/>
            <a:ext cx="8603234" cy="4407313"/>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62500" lnSpcReduction="20000"/>
          </a:bodyPr>
          <a:lstStyle/>
          <a:p>
            <a:pPr marL="152400" indent="0">
              <a:spcBef>
                <a:spcPts val="0"/>
              </a:spcBef>
              <a:buNone/>
            </a:pPr>
            <a:endParaRPr lang="en-US"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[1] M. S. Al-Ajlan and M. A. Al-Khalifa, "Towards the development of an automated evaluation tool for digital educational resources," </a:t>
            </a:r>
            <a:r>
              <a:rPr lang="en-IN" i="1" dirty="0">
                <a:latin typeface="Cambria" panose="02040503050406030204" pitchFamily="18" charset="0"/>
                <a:ea typeface="Cambria" panose="02040503050406030204" pitchFamily="18" charset="0"/>
              </a:rPr>
              <a:t>International Journal of Advanced Computer Science and Applications (IJACSA)</a:t>
            </a:r>
            <a:r>
              <a:rPr lang="en-IN" dirty="0">
                <a:latin typeface="Cambria" panose="02040503050406030204" pitchFamily="18" charset="0"/>
                <a:ea typeface="Cambria" panose="02040503050406030204" pitchFamily="18" charset="0"/>
              </a:rPr>
              <a:t>, vol. 7, no. 7, pp. 204–210, 2016.</a:t>
            </a:r>
          </a:p>
          <a:p>
            <a:pPr marL="76200" indent="0">
              <a:buNone/>
            </a:pP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[2] N. G. T. Izquierdo, L. A. G. Villalobos, and J. D. M. Ramírez, "A framework for the evaluation of e-learning materials," in </a:t>
            </a:r>
            <a:r>
              <a:rPr lang="en-IN" i="1" dirty="0">
                <a:latin typeface="Cambria" panose="02040503050406030204" pitchFamily="18" charset="0"/>
                <a:ea typeface="Cambria" panose="02040503050406030204" pitchFamily="18" charset="0"/>
              </a:rPr>
              <a:t>Proc. IEEE Global Engineering Education Conf. (EDUCON)</a:t>
            </a:r>
            <a:r>
              <a:rPr lang="en-IN" dirty="0">
                <a:latin typeface="Cambria" panose="02040503050406030204" pitchFamily="18" charset="0"/>
                <a:ea typeface="Cambria" panose="02040503050406030204" pitchFamily="18" charset="0"/>
              </a:rPr>
              <a:t>, Abu Dhabi, UAE, 2016, pp. 1129–1134.</a:t>
            </a:r>
          </a:p>
          <a:p>
            <a:pPr marL="76200" indent="0">
              <a:buNone/>
            </a:pP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[3] R. K. Singh and A. Sharma, "Design and development of web-based evaluation system for academic resources," </a:t>
            </a:r>
            <a:r>
              <a:rPr lang="en-IN" i="1" dirty="0">
                <a:latin typeface="Cambria" panose="02040503050406030204" pitchFamily="18" charset="0"/>
                <a:ea typeface="Cambria" panose="02040503050406030204" pitchFamily="18" charset="0"/>
              </a:rPr>
              <a:t>International Journal of Computer Applications</a:t>
            </a:r>
            <a:r>
              <a:rPr lang="en-IN" dirty="0">
                <a:latin typeface="Cambria" panose="02040503050406030204" pitchFamily="18" charset="0"/>
                <a:ea typeface="Cambria" panose="02040503050406030204" pitchFamily="18" charset="0"/>
              </a:rPr>
              <a:t>, vol. 183, no. 8, pp. 25–30, June 2021.</a:t>
            </a:r>
          </a:p>
          <a:p>
            <a:pPr marL="76200" indent="0">
              <a:buNone/>
            </a:pP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[4] T. M. Connolly and E. A. Stansfield, "Evaluating the quality of learning resources: A web-based approach," in </a:t>
            </a:r>
            <a:r>
              <a:rPr lang="en-IN" i="1" dirty="0">
                <a:latin typeface="Cambria" panose="02040503050406030204" pitchFamily="18" charset="0"/>
                <a:ea typeface="Cambria" panose="02040503050406030204" pitchFamily="18" charset="0"/>
              </a:rPr>
              <a:t>Proc. IEEE International Conf. on Advanced Learning Technologies (ICALT)</a:t>
            </a:r>
            <a:r>
              <a:rPr lang="en-IN" dirty="0">
                <a:latin typeface="Cambria" panose="02040503050406030204" pitchFamily="18" charset="0"/>
                <a:ea typeface="Cambria" panose="02040503050406030204" pitchFamily="18" charset="0"/>
              </a:rPr>
              <a:t>, Athens, Greece, 2014, pp. 37–41.</a:t>
            </a:r>
          </a:p>
          <a:p>
            <a:pPr marL="76200" indent="0">
              <a:buNone/>
            </a:pP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[5] M. A. Al-Emran, "Towards an intelligent framework for textbook evaluation in higher education," </a:t>
            </a:r>
            <a:r>
              <a:rPr lang="en-IN" i="1" dirty="0">
                <a:latin typeface="Cambria" panose="02040503050406030204" pitchFamily="18" charset="0"/>
                <a:ea typeface="Cambria" panose="02040503050406030204" pitchFamily="18" charset="0"/>
              </a:rPr>
              <a:t>Education and Information Technologies</a:t>
            </a:r>
            <a:r>
              <a:rPr lang="en-IN" dirty="0">
                <a:latin typeface="Cambria" panose="02040503050406030204" pitchFamily="18" charset="0"/>
                <a:ea typeface="Cambria" panose="02040503050406030204" pitchFamily="18" charset="0"/>
              </a:rPr>
              <a:t>, vol. 24, no. 2, pp. 1453–1468, Mar. 2019.</a:t>
            </a:r>
          </a:p>
          <a:p>
            <a:pPr marL="76200" indent="0">
              <a:buNone/>
            </a:pPr>
            <a:endParaRPr lang="en-IN" dirty="0">
              <a:latin typeface="Cambria" panose="02040503050406030204" pitchFamily="18" charset="0"/>
              <a:ea typeface="Cambria" panose="02040503050406030204" pitchFamily="18" charset="0"/>
            </a:endParaRPr>
          </a:p>
          <a:p>
            <a:r>
              <a:rPr lang="en-IN" dirty="0">
                <a:latin typeface="Cambria" panose="02040503050406030204" pitchFamily="18" charset="0"/>
                <a:ea typeface="Cambria" panose="02040503050406030204" pitchFamily="18" charset="0"/>
              </a:rPr>
              <a:t>[6] S. R. K. Somasekhar, P. V. Kumar, and R. J. Reddy, "Automated assessment of educational content using multi-criteria analysis," in </a:t>
            </a:r>
            <a:r>
              <a:rPr lang="en-IN" i="1" dirty="0">
                <a:latin typeface="Cambria" panose="02040503050406030204" pitchFamily="18" charset="0"/>
                <a:ea typeface="Cambria" panose="02040503050406030204" pitchFamily="18" charset="0"/>
              </a:rPr>
              <a:t>Proc. IEEE International Conf. on Technology for Education (T4E)</a:t>
            </a:r>
            <a:r>
              <a:rPr lang="en-IN" dirty="0">
                <a:latin typeface="Cambria" panose="02040503050406030204" pitchFamily="18" charset="0"/>
                <a:ea typeface="Cambria" panose="02040503050406030204" pitchFamily="18" charset="0"/>
              </a:rPr>
              <a:t>, Mumbai, India, 2020, pp. 215–220.</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2208</TotalTime>
  <Words>1230</Words>
  <Application>Microsoft Office PowerPoint</Application>
  <PresentationFormat>Widescreen</PresentationFormat>
  <Paragraphs>120</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Cambria</vt:lpstr>
      <vt:lpstr>Verdana</vt:lpstr>
      <vt:lpstr>Wingdings</vt:lpstr>
      <vt:lpstr>Bioinformatics</vt:lpstr>
      <vt:lpstr>PSCS_46_Application for Assessment of Quality of Textbook/Reference Books/E-Book</vt:lpstr>
      <vt:lpstr>Problem Statement Number: PSCS_46 </vt:lpstr>
      <vt:lpstr>Content</vt:lpstr>
      <vt:lpstr>Problem Statement </vt:lpstr>
      <vt:lpstr>Objectives</vt:lpstr>
      <vt:lpstr>Background and Related work for Title Selection</vt:lpstr>
      <vt:lpstr>Analysis of Problem Statement </vt:lpstr>
      <vt:lpstr>Proposed Technology Stack</vt:lpstr>
      <vt:lpstr>Innovation and Novel Contributions</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Amith Kumar</cp:lastModifiedBy>
  <cp:revision>44</cp:revision>
  <dcterms:modified xsi:type="dcterms:W3CDTF">2025-08-16T10:29:28Z</dcterms:modified>
</cp:coreProperties>
</file>