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5" r:id="rId7"/>
    <p:sldId id="276" r:id="rId8"/>
    <p:sldId id="295" r:id="rId9"/>
    <p:sldId id="296" r:id="rId10"/>
    <p:sldId id="281" r:id="rId11"/>
    <p:sldId id="283" r:id="rId12"/>
    <p:sldId id="285" r:id="rId13"/>
    <p:sldId id="297" r:id="rId14"/>
    <p:sldId id="273" r:id="rId15"/>
    <p:sldId id="293" r:id="rId16"/>
    <p:sldId id="270" r:id="rId17"/>
    <p:sldId id="300" r:id="rId18"/>
    <p:sldId id="265" r:id="rId19"/>
    <p:sldId id="280" r:id="rId20"/>
    <p:sldId id="26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github.com/Lavanya7004/Quality-Assesment-Capstone-Project" TargetMode="External"/><Relationship Id="rId1" Type="http://schemas.openxmlformats.org/officeDocument/2006/relationships/hyperlink" Target="%20https://github.com/imrxnsk/SmartEduRural.git" TargetMode="Externa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dirty="0" smtClean="0">
                <a:solidFill>
                  <a:schemeClr val="tx1"/>
                </a:solidFill>
                <a:latin typeface="Cambria" panose="02040503050406030204" pitchFamily="18" charset="0"/>
                <a:ea typeface="Cambria" panose="02040503050406030204" pitchFamily="18" charset="0"/>
                <a:sym typeface="+mn-ea"/>
              </a:rPr>
              <a:t>PSCS_46_ </a:t>
            </a:r>
            <a:r>
              <a:rPr lang="en-US" sz="2400" dirty="0" smtClean="0">
                <a:solidFill>
                  <a:schemeClr val="tx1"/>
                </a:solidFill>
                <a:latin typeface="Cambria" panose="02040503050406030204" pitchFamily="18" charset="0"/>
                <a:ea typeface="Cambria" panose="02040503050406030204" pitchFamily="18" charset="0"/>
                <a:sym typeface="+mn-ea"/>
              </a:rPr>
              <a:t>Application for Assessment of Quality of Textbook/Reference Books/E-Book</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smtClean="0">
                <a:latin typeface="Cambria" panose="02040503050406030204" pitchFamily="18" charset="0"/>
                <a:ea typeface="Cambria" panose="02040503050406030204" pitchFamily="18" charset="0"/>
                <a:sym typeface="+mn-ea"/>
              </a:rPr>
              <a:t>Batch Number: </a:t>
            </a:r>
            <a:r>
              <a:rPr lang="en-GB" sz="1800" dirty="0" smtClean="0">
                <a:solidFill>
                  <a:schemeClr val="tx1"/>
                </a:solidFill>
                <a:latin typeface="Cambria" panose="02040503050406030204" pitchFamily="18" charset="0"/>
                <a:ea typeface="Cambria" panose="02040503050406030204" pitchFamily="18" charset="0"/>
                <a:sym typeface="+mn-ea"/>
              </a:rPr>
              <a:t>CSE_169</a:t>
            </a:r>
            <a:endParaRPr sz="1800">
              <a:latin typeface="Cambria" panose="02040503050406030204" pitchFamily="18" charset="0"/>
              <a:ea typeface="Cambria" panose="02040503050406030204" pitchFamily="18" charset="0"/>
            </a:endParaRPr>
          </a:p>
        </p:txBody>
      </p:sp>
      <p:sp>
        <p:nvSpPr>
          <p:cNvPr id="90" name="Google Shape;90;p13"/>
          <p:cNvSpPr txBox="1"/>
          <p:nvPr/>
        </p:nvSpPr>
        <p:spPr>
          <a:xfrm>
            <a:off x="6480195" y="2463175"/>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800" b="1"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GB" sz="1800" b="1" dirty="0" err="1"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Md</a:t>
            </a:r>
            <a:r>
              <a:rPr lang="en-GB" sz="1800" b="1"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ZiaUr </a:t>
            </a:r>
            <a:r>
              <a:rPr lang="en-GB" sz="1800" b="1" dirty="0" err="1"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Rahman</a:t>
            </a:r>
            <a:endParaRPr sz="1800" dirty="0" smtClean="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Project Guide</a:t>
            </a:r>
            <a:endParaRPr sz="1800" dirty="0" smtClean="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a:t>
            </a: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of Computer Science </a:t>
            </a:r>
            <a:r>
              <a:rPr lang="en-GB" sz="1800" b="1"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and </a:t>
            </a: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Engineering</a:t>
            </a:r>
            <a:endParaRPr sz="18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sz="1800" dirty="0">
              <a:latin typeface="Cambria" panose="02040503050406030204" pitchFamily="18" charset="0"/>
              <a:ea typeface="Cambria" panose="02040503050406030204" pitchFamily="18" charset="0"/>
            </a:endParaRPr>
          </a:p>
          <a:p>
            <a:pPr marL="0" marR="0" lvl="0" indent="0" algn="ctr" rtl="0">
              <a:spcBef>
                <a:spcPts val="0"/>
              </a:spcBef>
              <a:spcAft>
                <a:spcPts val="0"/>
              </a:spcAft>
              <a:buClr>
                <a:srgbClr val="17365D"/>
              </a:buClr>
              <a:buSzPts val="2000"/>
              <a:buFont typeface="Arial" panose="020B0604020202020204"/>
              <a:buNone/>
            </a:pPr>
            <a:endParaRPr dirty="0">
              <a:latin typeface="Cambria" panose="02040503050406030204"/>
              <a:ea typeface="Cambria" panose="02040503050406030204"/>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468940"/>
        </p:xfrm>
        <a:graphic>
          <a:graphicData uri="http://schemas.openxmlformats.org/drawingml/2006/table">
            <a:tbl>
              <a:tblPr firstRow="1" bandRow="1">
                <a:noFill/>
                <a:tableStyleId>{57690726-49DA-4552-BDEB-330DD8EA8BD9}</a:tableStyleId>
              </a:tblPr>
              <a:tblGrid>
                <a:gridCol w="2085000"/>
                <a:gridCol w="3333675"/>
              </a:tblGrid>
              <a:tr h="306243">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GB" sz="1800" b="1" i="0" u="none" strike="noStrike" kern="0" cap="none" spc="0" normalizeH="0" baseline="0" noProof="0" dirty="0" smtClean="0">
                          <a:ln>
                            <a:noFill/>
                          </a:ln>
                          <a:solidFill>
                            <a:srgbClr val="17365D"/>
                          </a:solidFill>
                          <a:effectLst/>
                          <a:uLnTx/>
                          <a:uFillTx/>
                          <a:latin typeface="+mj-lt"/>
                          <a:cs typeface="+mj-lt"/>
                          <a:sym typeface="Arial" panose="020B0604020202020204"/>
                        </a:rPr>
                        <a:t>Roll Number</a:t>
                      </a:r>
                      <a:endParaRPr kumimoji="0" lang="en-GB" sz="1800" b="1" i="0" u="none" strike="noStrike" kern="0" cap="none" spc="0" normalizeH="0" baseline="0" noProof="0" dirty="0" smtClean="0">
                        <a:ln>
                          <a:noFill/>
                        </a:ln>
                        <a:solidFill>
                          <a:srgbClr val="17365D"/>
                        </a:solidFill>
                        <a:effectLst/>
                        <a:uLnTx/>
                        <a:uFillTx/>
                        <a:latin typeface="+mj-lt"/>
                        <a:cs typeface="+mj-lt"/>
                        <a:sym typeface="Arial" panose="020B0604020202020204"/>
                      </a:endParaRPr>
                    </a:p>
                    <a:p>
                      <a:pPr algn="ctr"/>
                      <a:endParaRPr lang="en-IN" dirty="0">
                        <a:latin typeface="+mj-lt"/>
                        <a:cs typeface="+mj-lt"/>
                      </a:endParaRPr>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algn="ctr"/>
                      <a:r>
                        <a:rPr lang="en-US" sz="1800" dirty="0" smtClean="0">
                          <a:solidFill>
                            <a:schemeClr val="tx1"/>
                          </a:solidFill>
                        </a:rPr>
                        <a:t>Student Name</a:t>
                      </a:r>
                      <a:endParaRPr lang="en-IN" sz="1800" dirty="0">
                        <a:solidFill>
                          <a:schemeClr val="tx1"/>
                        </a:solidFill>
                      </a:endParaRPr>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algn="ctr"/>
                      <a:r>
                        <a:rPr lang="en-IN" dirty="0" smtClean="0"/>
                        <a:t>20221CSE0392</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algn="ctr"/>
                      <a:r>
                        <a:rPr lang="en-US" dirty="0" smtClean="0"/>
                        <a:t>LAVANYA</a:t>
                      </a:r>
                      <a:r>
                        <a:rPr lang="en-US" baseline="0" dirty="0" smtClean="0"/>
                        <a:t>  M</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algn="ctr"/>
                      <a:r>
                        <a:rPr lang="en-IN" dirty="0" smtClean="0"/>
                        <a:t>20221CSE0266</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algn="ctr"/>
                      <a:r>
                        <a:rPr lang="en-US" dirty="0" smtClean="0"/>
                        <a:t>SUPRAJA</a:t>
                      </a:r>
                      <a:r>
                        <a:rPr lang="en-US" baseline="0" dirty="0" smtClean="0"/>
                        <a:t>  POSINA</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algn="ctr"/>
                      <a:r>
                        <a:rPr lang="en-IN" dirty="0" smtClean="0"/>
                        <a:t>20221CSE0385</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algn="ctr"/>
                      <a:r>
                        <a:rPr lang="en-IN" dirty="0" smtClean="0"/>
                        <a:t>CHETHANA</a:t>
                      </a:r>
                      <a:r>
                        <a:rPr lang="en-IN" baseline="0" dirty="0" smtClean="0"/>
                        <a:t> T</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a:ea typeface="Cambria" panose="02040503050406030204"/>
                <a:cs typeface="Verdana" panose="020B0604030504040204"/>
                <a:sym typeface="Verdana" panose="020B0604030504040204"/>
              </a:rPr>
              <a:t>CSE7101-</a:t>
            </a:r>
            <a:r>
              <a:rPr lang="en-GB" sz="1800" b="1" i="0" u="none" strike="noStrike" cap="none" dirty="0">
                <a:solidFill>
                  <a:srgbClr val="17365D"/>
                </a:solidFill>
                <a:latin typeface="Cambria" panose="02040503050406030204"/>
                <a:ea typeface="Cambria" panose="02040503050406030204"/>
                <a:cs typeface="Verdana" panose="020B0604030504040204"/>
                <a:sym typeface="Verdana" panose="020B0604030504040204"/>
              </a:rPr>
              <a:t> Capstone Project</a:t>
            </a:r>
            <a:endParaRPr sz="1800" dirty="0">
              <a:latin typeface="Cambria" panose="02040503050406030204"/>
              <a:ea typeface="Cambria" panose="02040503050406030204"/>
            </a:endParaRPr>
          </a:p>
          <a:p>
            <a:pPr marL="0" marR="0" lvl="0" indent="0" algn="ctr" rtl="0">
              <a:spcBef>
                <a:spcPts val="310"/>
              </a:spcBef>
              <a:spcAft>
                <a:spcPts val="0"/>
              </a:spcAft>
              <a:buClr>
                <a:srgbClr val="17365D"/>
              </a:buClr>
              <a:buSzPct val="100000"/>
              <a:buFont typeface="Arial" panose="020B0604020202020204"/>
              <a:buNone/>
            </a:pPr>
            <a:r>
              <a:rPr lang="en-US" altLang="en-GB" sz="1800" b="1" i="0" u="none" strike="noStrike" cap="none" dirty="0">
                <a:solidFill>
                  <a:srgbClr val="17365D"/>
                </a:solidFill>
                <a:latin typeface="Cambria" panose="02040503050406030204"/>
                <a:ea typeface="Cambria" panose="02040503050406030204"/>
                <a:cs typeface="Verdana" panose="020B0604030504040204"/>
                <a:sym typeface="Verdana" panose="020B0604030504040204"/>
              </a:rPr>
              <a:t>FINAL VIVA</a:t>
            </a:r>
            <a:endParaRPr lang="en-US" altLang="en-GB" sz="1800" b="1" i="0" u="none" strike="noStrike" cap="none" dirty="0">
              <a:solidFill>
                <a:srgbClr val="17365D"/>
              </a:solidFill>
              <a:latin typeface="Cambria" panose="02040503050406030204"/>
              <a:ea typeface="Cambria" panose="02040503050406030204"/>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Computer Science and Engineering</a:t>
            </a:r>
            <a:endPar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err="1"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Dr.Blessed</a:t>
            </a:r>
            <a:r>
              <a:rPr lang="en-US"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 Prince</a:t>
            </a:r>
            <a:endParaRPr lang="en-US"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dirty="0" err="1"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Dr.</a:t>
            </a:r>
            <a:r>
              <a:rPr lang="en-GB" altLang="en-US" sz="1800" b="1" dirty="0" err="1"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Muthuraju V</a:t>
            </a:r>
            <a:endParaRPr lang="en-US" altLang="en-US"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dirty="0" err="1"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dirty="0" err="1"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a:ea typeface="Cambria" panose="02040503050406030204"/>
              <a:cs typeface="Verdana" panose="020B0604030504040204"/>
              <a:sym typeface="Verdana" panose="020B0604030504040204"/>
            </a:endParaRPr>
          </a:p>
        </p:txBody>
      </p:sp>
      <p:graphicFrame>
        <p:nvGraphicFramePr>
          <p:cNvPr id="6" name="Table 5"/>
          <p:cNvGraphicFramePr/>
          <p:nvPr>
            <p:custDataLst>
              <p:tags r:id="rId1"/>
            </p:custDataLst>
          </p:nvPr>
        </p:nvGraphicFramePr>
        <p:xfrm>
          <a:off x="669290" y="2611120"/>
          <a:ext cx="5121910" cy="1724660"/>
        </p:xfrm>
        <a:graphic>
          <a:graphicData uri="http://schemas.openxmlformats.org/drawingml/2006/table">
            <a:tbl>
              <a:tblPr firstRow="1" bandRow="1">
                <a:tableStyleId>{5C22544A-7EE6-4342-B048-85BDC9FD1C3A}</a:tableStyleId>
              </a:tblPr>
              <a:tblGrid>
                <a:gridCol w="2560955"/>
                <a:gridCol w="2560955"/>
              </a:tblGrid>
              <a:tr h="431165">
                <a:tc>
                  <a:txBody>
                    <a:bodyPr/>
                    <a:p>
                      <a:pPr marL="0" marR="0" lvl="1"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GB" sz="1800" b="1" i="0" u="none" strike="noStrike" kern="0" cap="none" spc="0" normalizeH="0" baseline="0" noProof="0" dirty="0" smtClean="0">
                          <a:ln>
                            <a:noFill/>
                          </a:ln>
                          <a:solidFill>
                            <a:srgbClr val="17365D"/>
                          </a:solidFill>
                          <a:effectLst/>
                          <a:uLnTx/>
                          <a:uFillTx/>
                          <a:latin typeface="+mj-lt"/>
                          <a:cs typeface="+mj-lt"/>
                          <a:sym typeface="Arial" panose="020B0604020202020204"/>
                        </a:rPr>
                        <a:t>Roll Number</a:t>
                      </a:r>
                      <a:endParaRPr kumimoji="0" lang="en-GB" sz="1800" b="1" i="0" u="none" strike="noStrike" kern="0" cap="none" spc="0" normalizeH="0" baseline="0" noProof="0" dirty="0" smtClean="0">
                        <a:ln>
                          <a:noFill/>
                        </a:ln>
                        <a:solidFill>
                          <a:srgbClr val="17365D"/>
                        </a:solidFill>
                        <a:effectLst/>
                        <a:uLnTx/>
                        <a:uFillTx/>
                        <a:latin typeface="+mj-lt"/>
                        <a:cs typeface="+mj-lt"/>
                        <a:sym typeface="Arial" panose="020B0604020202020204"/>
                      </a:endParaRPr>
                    </a:p>
                    <a:p>
                      <a:pPr algn="ctr"/>
                      <a:endParaRPr lang="en-IN" dirty="0">
                        <a:latin typeface="+mj-lt"/>
                        <a:cs typeface="+mj-lt"/>
                      </a:endParaRPr>
                    </a:p>
                  </a:txBody>
                  <a:tcPr/>
                </a:tc>
                <a:tc>
                  <a:txBody>
                    <a:bodyPr/>
                    <a:p>
                      <a:pPr algn="ctr"/>
                      <a:r>
                        <a:rPr lang="en-US" sz="1800" dirty="0" smtClean="0">
                          <a:solidFill>
                            <a:schemeClr val="tx1"/>
                          </a:solidFill>
                        </a:rPr>
                        <a:t>Student Name</a:t>
                      </a:r>
                      <a:endParaRPr lang="en-IN" sz="1800" dirty="0">
                        <a:solidFill>
                          <a:schemeClr val="tx1"/>
                        </a:solidFill>
                      </a:endParaRPr>
                    </a:p>
                  </a:txBody>
                  <a:tcPr/>
                </a:tc>
              </a:tr>
              <a:tr h="431165">
                <a:tc>
                  <a:txBody>
                    <a:bodyPr/>
                    <a:p>
                      <a:pPr algn="ctr"/>
                      <a:r>
                        <a:rPr lang="en-IN" dirty="0" smtClean="0"/>
                        <a:t>20221CSE0392</a:t>
                      </a:r>
                      <a:endParaRPr lang="en-IN" dirty="0"/>
                    </a:p>
                  </a:txBody>
                  <a:tcPr/>
                </a:tc>
                <a:tc>
                  <a:txBody>
                    <a:bodyPr/>
                    <a:p>
                      <a:pPr algn="ctr"/>
                      <a:r>
                        <a:rPr lang="en-US" dirty="0" smtClean="0"/>
                        <a:t>LAVANYA</a:t>
                      </a:r>
                      <a:r>
                        <a:rPr lang="en-US" baseline="0" dirty="0" smtClean="0"/>
                        <a:t>  M</a:t>
                      </a:r>
                      <a:endParaRPr lang="en-IN" dirty="0"/>
                    </a:p>
                  </a:txBody>
                  <a:tcPr/>
                </a:tc>
              </a:tr>
              <a:tr h="431165">
                <a:tc>
                  <a:txBody>
                    <a:bodyPr/>
                    <a:p>
                      <a:pPr algn="ctr"/>
                      <a:r>
                        <a:rPr lang="en-IN" dirty="0" smtClean="0"/>
                        <a:t>20221CSE0266</a:t>
                      </a:r>
                      <a:endParaRPr lang="en-IN" dirty="0"/>
                    </a:p>
                  </a:txBody>
                  <a:tcPr/>
                </a:tc>
                <a:tc>
                  <a:txBody>
                    <a:bodyPr/>
                    <a:p>
                      <a:pPr algn="ctr"/>
                      <a:r>
                        <a:rPr lang="en-US" dirty="0" smtClean="0"/>
                        <a:t>SUPRAJA</a:t>
                      </a:r>
                      <a:r>
                        <a:rPr lang="en-US" baseline="0" dirty="0" smtClean="0"/>
                        <a:t>  POSINA</a:t>
                      </a:r>
                      <a:endParaRPr lang="en-IN" dirty="0"/>
                    </a:p>
                  </a:txBody>
                  <a:tcPr/>
                </a:tc>
              </a:tr>
              <a:tr h="431165">
                <a:tc>
                  <a:txBody>
                    <a:bodyPr/>
                    <a:p>
                      <a:pPr algn="ctr"/>
                      <a:r>
                        <a:rPr lang="en-IN" dirty="0" smtClean="0"/>
                        <a:t>20221CSE0385</a:t>
                      </a:r>
                      <a:endParaRPr lang="en-IN" dirty="0"/>
                    </a:p>
                  </a:txBody>
                  <a:tcPr/>
                </a:tc>
                <a:tc>
                  <a:txBody>
                    <a:bodyPr/>
                    <a:p>
                      <a:pPr algn="ctr"/>
                      <a:r>
                        <a:rPr lang="en-IN" dirty="0" smtClean="0"/>
                        <a:t>CHETHANA</a:t>
                      </a:r>
                      <a:r>
                        <a:rPr lang="en-IN" baseline="0" dirty="0" smtClean="0"/>
                        <a:t> T</a:t>
                      </a:r>
                      <a:endParaRPr lang="en-IN" dirty="0"/>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Content</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955" y="1037590"/>
            <a:ext cx="10668000" cy="4867910"/>
          </a:xfrm>
          <a:prstGeom prst="rect">
            <a:avLst/>
          </a:prstGeom>
          <a:noFill/>
          <a:ln>
            <a:noFill/>
          </a:ln>
        </p:spPr>
        <p:txBody>
          <a:bodyPr spcFirstLastPara="1" wrap="square" lIns="91425" tIns="45700" rIns="91425" bIns="45700" anchor="t" anchorCtr="0">
            <a:normAutofit fontScale="60000" lnSpcReduction="20000"/>
          </a:bodyPr>
          <a:lstStyle/>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Problem Statement</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Objectives</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Background and Related work for title Selection</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Architecture Diagram</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Modules </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Algorithms</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Hardware and Software Requirements </a:t>
            </a:r>
            <a:endParaRPr lang="en-US" sz="320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err="1">
                <a:latin typeface="Cambria" panose="02040503050406030204" pitchFamily="18" charset="0"/>
                <a:ea typeface="Cambria" panose="02040503050406030204" pitchFamily="18" charset="0"/>
              </a:rPr>
              <a:t>Git</a:t>
            </a:r>
            <a:r>
              <a:rPr lang="en-US">
                <a:latin typeface="Cambria" panose="02040503050406030204" pitchFamily="18" charset="0"/>
                <a:ea typeface="Cambria" panose="02040503050406030204" pitchFamily="18" charset="0"/>
              </a:rPr>
              <a:t>-hub Link</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Timeline of the Project</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Result</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References</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a:ea typeface="Cambria" panose="02040503050406030204"/>
              </a:rPr>
              <a:t>Problem Statement</a:t>
            </a:r>
            <a:endParaRPr>
              <a:latin typeface="Cambria" panose="02040503050406030204"/>
              <a:ea typeface="Cambria" panose="02040503050406030204"/>
            </a:endParaRPr>
          </a:p>
        </p:txBody>
      </p:sp>
      <p:sp>
        <p:nvSpPr>
          <p:cNvPr id="97" name="Google Shape;97;p14"/>
          <p:cNvSpPr txBox="1">
            <a:spLocks noGrp="1"/>
          </p:cNvSpPr>
          <p:nvPr>
            <p:ph type="body" idx="1"/>
          </p:nvPr>
        </p:nvSpPr>
        <p:spPr>
          <a:xfrm>
            <a:off x="812800" y="1143000"/>
            <a:ext cx="10248265" cy="4890135"/>
          </a:xfrm>
          <a:prstGeom prst="rect">
            <a:avLst/>
          </a:prstGeom>
          <a:noFill/>
          <a:ln>
            <a:noFill/>
          </a:ln>
        </p:spPr>
        <p:txBody>
          <a:bodyPr spcFirstLastPara="1" wrap="square" lIns="91425" tIns="45700" rIns="91425" bIns="45700" anchor="t" anchorCtr="0">
            <a:normAutofit fontScale="50000"/>
          </a:bodyPr>
          <a:lstStyle/>
          <a:p>
            <a:pPr marL="342900" indent="-190500">
              <a:lnSpc>
                <a:spcPct val="170000"/>
              </a:lnSpc>
              <a:spcBef>
                <a:spcPts val="0"/>
              </a:spcBef>
              <a:buNone/>
            </a:pPr>
            <a:r>
              <a:rPr lang="en-US" sz="3000" b="1" dirty="0">
                <a:latin typeface="Cambria" panose="02040503050406030204" pitchFamily="18" charset="0"/>
                <a:ea typeface="Cambria" panose="02040503050406030204"/>
                <a:cs typeface="Cambria" panose="02040503050406030204" pitchFamily="18" charset="0"/>
              </a:rPr>
              <a:t>Problem Statement Number:</a:t>
            </a:r>
            <a:r>
              <a:rPr lang="en-US" sz="3000" dirty="0">
                <a:latin typeface="Cambria" panose="02040503050406030204" pitchFamily="18" charset="0"/>
                <a:ea typeface="Cambria" panose="02040503050406030204"/>
                <a:cs typeface="Cambria" panose="02040503050406030204" pitchFamily="18" charset="0"/>
              </a:rPr>
              <a:t> PSCS_</a:t>
            </a:r>
            <a:r>
              <a:rPr lang="en-GB" altLang="en-US" sz="3000" dirty="0">
                <a:latin typeface="Cambria" panose="02040503050406030204" pitchFamily="18" charset="0"/>
                <a:ea typeface="Cambria" panose="02040503050406030204"/>
                <a:cs typeface="Cambria" panose="02040503050406030204" pitchFamily="18" charset="0"/>
              </a:rPr>
              <a:t>46</a:t>
            </a:r>
            <a:endParaRPr lang="en-US" sz="3000" dirty="0">
              <a:latin typeface="Cambria" panose="02040503050406030204" pitchFamily="18" charset="0"/>
              <a:cs typeface="Cambria" panose="02040503050406030204" pitchFamily="18" charset="0"/>
            </a:endParaRPr>
          </a:p>
          <a:p>
            <a:pPr marL="342900" indent="-190500">
              <a:lnSpc>
                <a:spcPct val="170000"/>
              </a:lnSpc>
              <a:spcBef>
                <a:spcPts val="0"/>
              </a:spcBef>
              <a:buNone/>
            </a:pPr>
            <a:r>
              <a:rPr lang="en-US" sz="3000" b="1" dirty="0">
                <a:latin typeface="Cambria" panose="02040503050406030204" pitchFamily="18" charset="0"/>
                <a:ea typeface="Cambria" panose="02040503050406030204"/>
                <a:cs typeface="Cambria" panose="02040503050406030204" pitchFamily="18" charset="0"/>
              </a:rPr>
              <a:t>Organization:</a:t>
            </a:r>
            <a:r>
              <a:rPr lang="en-GB" altLang="en-US" sz="3000" dirty="0">
                <a:latin typeface="Cambria" panose="02040503050406030204" pitchFamily="18" charset="0"/>
                <a:ea typeface="Cambria" panose="02040503050406030204"/>
                <a:cs typeface="Cambria" panose="02040503050406030204" pitchFamily="18" charset="0"/>
              </a:rPr>
              <a:t>Ministry of AYUSH</a:t>
            </a:r>
            <a:endParaRPr lang="en-US" sz="3000" dirty="0">
              <a:latin typeface="Cambria" panose="02040503050406030204" pitchFamily="18" charset="0"/>
              <a:cs typeface="Cambria" panose="02040503050406030204" pitchFamily="18" charset="0"/>
            </a:endParaRPr>
          </a:p>
          <a:p>
            <a:pPr marL="342900" indent="-190500">
              <a:lnSpc>
                <a:spcPct val="170000"/>
              </a:lnSpc>
              <a:spcBef>
                <a:spcPts val="0"/>
              </a:spcBef>
              <a:buNone/>
            </a:pPr>
            <a:r>
              <a:rPr lang="en-US" sz="3000" b="1" dirty="0">
                <a:latin typeface="Cambria" panose="02040503050406030204" pitchFamily="18" charset="0"/>
                <a:ea typeface="Cambria" panose="02040503050406030204"/>
                <a:cs typeface="Cambria" panose="02040503050406030204" pitchFamily="18" charset="0"/>
              </a:rPr>
              <a:t>Category: </a:t>
            </a:r>
            <a:r>
              <a:rPr lang="en-US" sz="3000" dirty="0">
                <a:latin typeface="Cambria" panose="02040503050406030204" pitchFamily="18" charset="0"/>
                <a:ea typeface="Cambria" panose="02040503050406030204"/>
                <a:cs typeface="Cambria" panose="02040503050406030204" pitchFamily="18" charset="0"/>
              </a:rPr>
              <a:t>Software </a:t>
            </a:r>
            <a:endParaRPr lang="en-US" sz="3000">
              <a:latin typeface="Cambria" panose="02040503050406030204" pitchFamily="18" charset="0"/>
              <a:cs typeface="Cambria" panose="02040503050406030204" pitchFamily="18" charset="0"/>
            </a:endParaRPr>
          </a:p>
          <a:p>
            <a:pPr marL="152400" lvl="0" indent="0" algn="just">
              <a:lnSpc>
                <a:spcPct val="200000"/>
              </a:lnSpc>
              <a:spcBef>
                <a:spcPts val="0"/>
              </a:spcBef>
              <a:buNone/>
            </a:pPr>
            <a:r>
              <a:rPr lang="en-US" sz="3000" b="1" dirty="0">
                <a:latin typeface="Cambria" panose="02040503050406030204" pitchFamily="18" charset="0"/>
                <a:ea typeface="Cambria" panose="02040503050406030204"/>
                <a:cs typeface="Cambria" panose="02040503050406030204" pitchFamily="18" charset="0"/>
              </a:rPr>
              <a:t>Problem Description</a:t>
            </a:r>
            <a:r>
              <a:rPr lang="en-GB" altLang="en-US" sz="3000" b="1" dirty="0">
                <a:latin typeface="Cambria" panose="02040503050406030204" pitchFamily="18" charset="0"/>
                <a:ea typeface="Cambria" panose="02040503050406030204"/>
                <a:cs typeface="Cambria" panose="02040503050406030204" pitchFamily="18" charset="0"/>
              </a:rPr>
              <a:t>:</a:t>
            </a:r>
            <a:r>
              <a:rPr lang="en-US" sz="3000" dirty="0">
                <a:latin typeface="Cambria" panose="02040503050406030204" pitchFamily="18" charset="0"/>
                <a:ea typeface="Cambria" panose="02040503050406030204" pitchFamily="18" charset="0"/>
                <a:cs typeface="Cambria" panose="02040503050406030204" pitchFamily="18" charset="0"/>
                <a:sym typeface="+mn-ea"/>
              </a:rPr>
              <a:t>In academic institutions, the evaluation of textbooks, reference books, and e-books is often carried out manually by faculty members or subject experts. This process is time-consuming, lacks standardization, and is prone to inconsistencies and human bias. Feedback is usually stored in scattered formats, making it difficult to track, compare, or maintain historical records. Without a centralized and automated system, ensuring the quality, relevance, and up-to-date nature of learning resources becomes challenging. There is a need for a software-based solution that streamlines the evaluation process, standardizes scoring criteria, and generates transparent, data-driven reports for better decision-making in selecting academic materials.</a:t>
            </a:r>
            <a:endParaRPr lang="en-US" sz="3000" dirty="0">
              <a:latin typeface="Cambria" panose="02040503050406030204" pitchFamily="18" charset="0"/>
              <a:ea typeface="Cambria" panose="02040503050406030204" pitchFamily="18" charset="0"/>
              <a:cs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cs typeface="Cambria" panose="02040503050406030204" pitchFamily="18" charset="0"/>
            </a:endParaRPr>
          </a:p>
          <a:p>
            <a:pPr marL="342900" indent="-190500">
              <a:lnSpc>
                <a:spcPct val="170000"/>
              </a:lnSpc>
              <a:spcBef>
                <a:spcPts val="0"/>
              </a:spcBef>
              <a:buNone/>
            </a:pPr>
            <a:endParaRPr lang="en-US" dirty="0"/>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Objectives</a:t>
            </a:r>
            <a:endParaRPr lang="en-US"/>
          </a:p>
        </p:txBody>
      </p:sp>
      <p:sp>
        <p:nvSpPr>
          <p:cNvPr id="3" name="Text Placeholder 2"/>
          <p:cNvSpPr>
            <a:spLocks noGrp="1"/>
          </p:cNvSpPr>
          <p:nvPr>
            <p:ph type="body" idx="1"/>
          </p:nvPr>
        </p:nvSpPr>
        <p:spPr/>
        <p:txBody>
          <a:bodyPr>
            <a:normAutofit fontScale="90000"/>
          </a:bodyPr>
          <a:lstStyle/>
          <a:p>
            <a:pPr marL="285750" indent="-285750">
              <a:lnSpc>
                <a:spcPct val="150000"/>
              </a:lnSpc>
            </a:pPr>
            <a:r>
              <a:rPr lang="en-US" dirty="0">
                <a:latin typeface="Cambria" panose="02040503050406030204" pitchFamily="18" charset="0"/>
                <a:ea typeface="Cambria" panose="02040503050406030204" pitchFamily="18" charset="0"/>
                <a:sym typeface="+mn-ea"/>
              </a:rPr>
              <a:t>To develop a web-based platform for evaluating the quality of textbooks, reference books, and e-books.</a:t>
            </a:r>
            <a:endParaRPr lang="en-US" dirty="0">
              <a:latin typeface="Cambria" panose="02040503050406030204" pitchFamily="18" charset="0"/>
              <a:ea typeface="Cambria" panose="02040503050406030204" pitchFamily="18" charset="0"/>
            </a:endParaRPr>
          </a:p>
          <a:p>
            <a:pPr marL="285750" indent="-285750">
              <a:lnSpc>
                <a:spcPct val="150000"/>
              </a:lnSpc>
            </a:pPr>
            <a:r>
              <a:rPr lang="en-US" dirty="0">
                <a:latin typeface="Cambria" panose="02040503050406030204" pitchFamily="18" charset="0"/>
                <a:ea typeface="Cambria" panose="02040503050406030204" pitchFamily="18" charset="0"/>
                <a:sym typeface="+mn-ea"/>
              </a:rPr>
              <a:t>To provide a standardized assessment framework with predefined quality parameters and weightages.</a:t>
            </a:r>
            <a:endParaRPr lang="en-US" dirty="0">
              <a:latin typeface="Cambria" panose="02040503050406030204" pitchFamily="18" charset="0"/>
              <a:ea typeface="Cambria" panose="02040503050406030204" pitchFamily="18" charset="0"/>
            </a:endParaRPr>
          </a:p>
          <a:p>
            <a:pPr marL="285750" indent="-285750">
              <a:lnSpc>
                <a:spcPct val="150000"/>
              </a:lnSpc>
            </a:pPr>
            <a:r>
              <a:rPr lang="en-US" dirty="0">
                <a:latin typeface="Cambria" panose="02040503050406030204" pitchFamily="18" charset="0"/>
                <a:ea typeface="Cambria" panose="02040503050406030204" pitchFamily="18" charset="0"/>
                <a:sym typeface="+mn-ea"/>
              </a:rPr>
              <a:t>To enable secure reviewer authentication and role-based access control.</a:t>
            </a:r>
            <a:endParaRPr lang="en-US" dirty="0">
              <a:latin typeface="Cambria" panose="02040503050406030204" pitchFamily="18" charset="0"/>
              <a:ea typeface="Cambria" panose="02040503050406030204" pitchFamily="18" charset="0"/>
            </a:endParaRPr>
          </a:p>
          <a:p>
            <a:pPr marL="285750" indent="-285750">
              <a:lnSpc>
                <a:spcPct val="150000"/>
              </a:lnSpc>
            </a:pPr>
            <a:r>
              <a:rPr lang="en-US" dirty="0">
                <a:latin typeface="Cambria" panose="02040503050406030204" pitchFamily="18" charset="0"/>
                <a:ea typeface="Cambria" panose="02040503050406030204" pitchFamily="18" charset="0"/>
                <a:sym typeface="+mn-ea"/>
              </a:rPr>
              <a:t>To automate the scoring and report generation process for quick decision-making.</a:t>
            </a:r>
            <a:endParaRPr lang="en-US" dirty="0">
              <a:latin typeface="Cambria" panose="02040503050406030204" pitchFamily="18" charset="0"/>
              <a:ea typeface="Cambria" panose="02040503050406030204" pitchFamily="18" charset="0"/>
            </a:endParaRPr>
          </a:p>
          <a:p>
            <a:pPr marL="285750" indent="-285750">
              <a:lnSpc>
                <a:spcPct val="150000"/>
              </a:lnSpc>
            </a:pPr>
            <a:r>
              <a:rPr lang="en-US" dirty="0">
                <a:latin typeface="Cambria" panose="02040503050406030204" pitchFamily="18" charset="0"/>
                <a:ea typeface="Cambria" panose="02040503050406030204" pitchFamily="18" charset="0"/>
                <a:sym typeface="+mn-ea"/>
              </a:rPr>
              <a:t>To create a centralized database for storing book details, reviews, and historical records.</a:t>
            </a:r>
            <a:endParaRPr lang="en-US" dirty="0">
              <a:latin typeface="Cambria" panose="02040503050406030204" pitchFamily="18" charset="0"/>
              <a:ea typeface="Cambria" panose="02040503050406030204" pitchFamily="18" charset="0"/>
            </a:endParaRPr>
          </a:p>
          <a:p>
            <a:pPr marL="285750" indent="-285750">
              <a:lnSpc>
                <a:spcPct val="150000"/>
              </a:lnSpc>
            </a:pPr>
            <a:r>
              <a:rPr lang="en-US" dirty="0">
                <a:latin typeface="Cambria" panose="02040503050406030204" pitchFamily="18" charset="0"/>
                <a:ea typeface="Cambria" panose="02040503050406030204" pitchFamily="18" charset="0"/>
                <a:sym typeface="+mn-ea"/>
              </a:rPr>
              <a:t>To ensure transparency, consistency, and efficiency in the evaluation process.</a:t>
            </a:r>
            <a:endParaRPr lang="en-US" dirty="0">
              <a:latin typeface="Cambria" panose="02040503050406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Background and Related work</a:t>
            </a:r>
            <a:endParaRPr lang="en-US"/>
          </a:p>
        </p:txBody>
      </p:sp>
      <p:sp>
        <p:nvSpPr>
          <p:cNvPr id="3" name="Text Placeholder 2"/>
          <p:cNvSpPr>
            <a:spLocks noGrp="1"/>
          </p:cNvSpPr>
          <p:nvPr>
            <p:ph type="body" idx="1"/>
          </p:nvPr>
        </p:nvSpPr>
        <p:spPr/>
        <p:txBody>
          <a:bodyPr>
            <a:normAutofit lnSpcReduction="20000"/>
          </a:bodyPr>
          <a:lstStyle/>
          <a:p>
            <a:pPr marL="76200" indent="0" algn="just">
              <a:buNone/>
            </a:pPr>
            <a:r>
              <a:rPr lang="en-US" altLang="en-GB" sz="1800" b="1" dirty="0">
                <a:latin typeface="Cambria" panose="02040503050406030204"/>
              </a:rPr>
              <a:t>1. Background</a:t>
            </a:r>
            <a:endParaRPr lang="en-US" altLang="en-GB" sz="1800" b="1" dirty="0">
              <a:latin typeface="Cambria" panose="02040503050406030204"/>
            </a:endParaRPr>
          </a:p>
          <a:p>
            <a:pPr marL="76200" indent="0" algn="just">
              <a:buNone/>
            </a:pPr>
            <a:r>
              <a:rPr lang="en-US" altLang="en-GB" sz="1800" dirty="0">
                <a:latin typeface="Cambria" panose="02040503050406030204"/>
              </a:rPr>
              <a:t>Educational institutions continuously depend on high-quality textbooks, reference books, and e-books to support effective teaching and learning. Traditionally, the evaluation and approval of academic books have been conducted manually through departmental committees or academic boards. These manual processes often involve paper-based review forms, subjective judgments, inconsistent evaluation criteria, and a lack of proper documentation. As a result, institutions face challenges such as:</a:t>
            </a:r>
            <a:endParaRPr lang="en-US" altLang="en-GB" sz="1800" dirty="0">
              <a:latin typeface="Cambria" panose="02040503050406030204"/>
            </a:endParaRPr>
          </a:p>
          <a:p>
            <a:pPr algn="just">
              <a:buFont typeface="Arial" panose="020B0604020202020204" pitchFamily="34" charset="0"/>
              <a:buChar char="•"/>
            </a:pPr>
            <a:r>
              <a:rPr lang="en-US" altLang="en-GB" sz="1800" dirty="0">
                <a:latin typeface="Cambria" panose="02040503050406030204"/>
              </a:rPr>
              <a:t>Time-consuming review cycles</a:t>
            </a:r>
            <a:endParaRPr lang="en-US" altLang="en-GB" sz="1800" dirty="0">
              <a:latin typeface="Cambria" panose="02040503050406030204"/>
            </a:endParaRPr>
          </a:p>
          <a:p>
            <a:pPr algn="just">
              <a:buFont typeface="Arial" panose="020B0604020202020204" pitchFamily="34" charset="0"/>
              <a:buChar char="•"/>
            </a:pPr>
            <a:r>
              <a:rPr lang="en-US" altLang="en-GB" sz="1800" dirty="0">
                <a:latin typeface="Cambria" panose="02040503050406030204"/>
              </a:rPr>
              <a:t>Variability in assessments across reviewers</a:t>
            </a:r>
            <a:endParaRPr lang="en-US" altLang="en-GB" sz="1800" dirty="0">
              <a:latin typeface="Cambria" panose="02040503050406030204"/>
            </a:endParaRPr>
          </a:p>
          <a:p>
            <a:pPr algn="just">
              <a:buFont typeface="Arial" panose="020B0604020202020204" pitchFamily="34" charset="0"/>
              <a:buChar char="•"/>
            </a:pPr>
            <a:r>
              <a:rPr lang="en-US" altLang="en-GB" sz="1800" dirty="0">
                <a:latin typeface="Cambria" panose="02040503050406030204"/>
              </a:rPr>
              <a:t>Difficulty in maintaining historical records</a:t>
            </a:r>
            <a:endParaRPr lang="en-US" altLang="en-GB" sz="1800" dirty="0">
              <a:latin typeface="Cambria" panose="02040503050406030204"/>
            </a:endParaRPr>
          </a:p>
          <a:p>
            <a:pPr algn="just">
              <a:buFont typeface="Arial" panose="020B0604020202020204" pitchFamily="34" charset="0"/>
              <a:buChar char="•"/>
            </a:pPr>
            <a:r>
              <a:rPr lang="en-US" altLang="en-GB" sz="1800" dirty="0">
                <a:latin typeface="Cambria" panose="02040503050406030204"/>
              </a:rPr>
              <a:t>Limited transparency and accountability</a:t>
            </a:r>
            <a:endParaRPr lang="en-US" altLang="en-GB" sz="1800" dirty="0">
              <a:latin typeface="Cambria" panose="02040503050406030204"/>
            </a:endParaRPr>
          </a:p>
          <a:p>
            <a:pPr algn="just">
              <a:buFont typeface="Arial" panose="020B0604020202020204" pitchFamily="34" charset="0"/>
              <a:buChar char="•"/>
            </a:pPr>
            <a:r>
              <a:rPr lang="en-US" altLang="en-GB" sz="1800" dirty="0">
                <a:latin typeface="Cambria" panose="02040503050406030204"/>
              </a:rPr>
              <a:t>Non-standardized evaluation methods</a:t>
            </a:r>
            <a:endParaRPr lang="en-US" altLang="en-GB" sz="1800" dirty="0">
              <a:latin typeface="Cambria" panose="02040503050406030204"/>
            </a:endParaRPr>
          </a:p>
          <a:p>
            <a:pPr marL="76200" indent="0" algn="just">
              <a:buFont typeface="Arial" panose="020B0604020202020204" pitchFamily="34" charset="0"/>
              <a:buNone/>
            </a:pPr>
            <a:r>
              <a:rPr lang="en-US" altLang="en-GB" sz="1800" dirty="0">
                <a:latin typeface="Cambria" panose="02040503050406030204"/>
              </a:rPr>
              <a:t>With the rise of digital learning ecosystems, institutions increasingly require data-driven, objective, and transparent evaluation systems to maintain the quality of their learning resources. The growth of e-learning platforms, digital libraries, and online academic repositories has further accelerated the need for structured quality assessment tools.</a:t>
            </a:r>
            <a:endParaRPr lang="en-US" altLang="en-GB" sz="1800" dirty="0">
              <a:latin typeface="Cambria" panose="02040503050406030204"/>
            </a:endParaRPr>
          </a:p>
          <a:p>
            <a:pPr marL="76200" indent="0" algn="just">
              <a:buFont typeface="Arial" panose="020B0604020202020204" pitchFamily="34" charset="0"/>
              <a:buNone/>
            </a:pPr>
            <a:r>
              <a:rPr lang="en-US" altLang="en-GB" sz="1800" dirty="0">
                <a:latin typeface="Cambria" panose="02040503050406030204"/>
              </a:rPr>
              <a:t>In this context, a web-based system for evaluating the quality of textbooks and reference materials provides a modern solution. By integrating automated scoring, reviewer authentication, and centralized storage, such a system ensures uniformity, consistency, and efficiency in academic quality assurance processes.</a:t>
            </a:r>
            <a:endParaRPr lang="en-US" altLang="en-GB" sz="1800" dirty="0">
              <a:latin typeface="Cambria" panose="02040503050406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ym typeface="+mn-ea"/>
              </a:rPr>
              <a:t>Background and Related work(contd...)</a:t>
            </a:r>
            <a:endParaRPr lang="en-GB" altLang="en-US"/>
          </a:p>
        </p:txBody>
      </p:sp>
      <p:sp>
        <p:nvSpPr>
          <p:cNvPr id="3" name="Text Placeholder 2"/>
          <p:cNvSpPr>
            <a:spLocks noGrp="1"/>
          </p:cNvSpPr>
          <p:nvPr>
            <p:ph type="body" idx="1"/>
          </p:nvPr>
        </p:nvSpPr>
        <p:spPr/>
        <p:txBody>
          <a:bodyPr>
            <a:normAutofit lnSpcReduction="20000"/>
          </a:bodyPr>
          <a:p>
            <a:pPr marL="76200" indent="0">
              <a:buNone/>
            </a:pPr>
            <a:r>
              <a:rPr lang="en-US" altLang="en-GB" sz="1800" b="1">
                <a:latin typeface="Cambria" panose="02040503050406030204" pitchFamily="18" charset="0"/>
                <a:cs typeface="Cambria" panose="02040503050406030204" pitchFamily="18" charset="0"/>
              </a:rPr>
              <a:t>2. Related Work</a:t>
            </a:r>
            <a:r>
              <a:rPr lang="en-GB" altLang="en-US" sz="1800" b="1">
                <a:latin typeface="Cambria" panose="02040503050406030204" pitchFamily="18" charset="0"/>
                <a:cs typeface="Cambria" panose="02040503050406030204" pitchFamily="18" charset="0"/>
              </a:rPr>
              <a:t>:</a:t>
            </a:r>
            <a:endParaRPr lang="en-US" altLang="en-GB" sz="1800" b="1">
              <a:latin typeface="Cambria" panose="02040503050406030204" pitchFamily="18" charset="0"/>
              <a:cs typeface="Cambria" panose="02040503050406030204" pitchFamily="18" charset="0"/>
            </a:endParaRPr>
          </a:p>
          <a:p>
            <a:pPr marL="76200" indent="0">
              <a:buNone/>
            </a:pPr>
            <a:r>
              <a:rPr lang="en-US" altLang="en-GB" sz="1800" b="1">
                <a:latin typeface="Cambria" panose="02040503050406030204" pitchFamily="18" charset="0"/>
                <a:cs typeface="Cambria" panose="02040503050406030204" pitchFamily="18" charset="0"/>
              </a:rPr>
              <a:t>2.1 Existing Manual Evaluation Frameworks</a:t>
            </a:r>
            <a:endParaRPr lang="en-US" altLang="en-GB" sz="1800" b="1">
              <a:latin typeface="Cambria" panose="02040503050406030204" pitchFamily="18" charset="0"/>
              <a:cs typeface="Cambria" panose="02040503050406030204" pitchFamily="18" charset="0"/>
            </a:endParaRPr>
          </a:p>
          <a:p>
            <a:pPr marL="76200" indent="0">
              <a:buNone/>
            </a:pPr>
            <a:r>
              <a:rPr lang="en-US" altLang="en-GB" sz="1800">
                <a:latin typeface="Cambria" panose="02040503050406030204" pitchFamily="18" charset="0"/>
                <a:cs typeface="Cambria" panose="02040503050406030204" pitchFamily="18" charset="0"/>
              </a:rPr>
              <a:t>Many universities—including NAAC-accredited and NBA-accredited institutions—use manual checklist-based evaluation to assess academic books. These checklists typically include criteria such as content relevance, clarity, updated information, pedagogical effectiveness, and presentation quality. However, these frameworks lack automation and depend heavily on subjective judgments.</a:t>
            </a:r>
            <a:endParaRPr lang="en-US" altLang="en-GB" sz="1800">
              <a:latin typeface="Cambria" panose="02040503050406030204" pitchFamily="18" charset="0"/>
              <a:cs typeface="Cambria" panose="02040503050406030204" pitchFamily="18" charset="0"/>
            </a:endParaRPr>
          </a:p>
          <a:p>
            <a:pPr marL="76200" indent="0">
              <a:buNone/>
            </a:pPr>
            <a:endParaRPr lang="en-US" altLang="en-GB" sz="1800">
              <a:latin typeface="Cambria" panose="02040503050406030204" pitchFamily="18" charset="0"/>
              <a:cs typeface="Cambria" panose="02040503050406030204" pitchFamily="18" charset="0"/>
            </a:endParaRPr>
          </a:p>
          <a:p>
            <a:pPr marL="76200" indent="0">
              <a:buNone/>
            </a:pPr>
            <a:r>
              <a:rPr lang="en-US" altLang="en-GB" sz="1800" b="1">
                <a:latin typeface="Cambria" panose="02040503050406030204" pitchFamily="18" charset="0"/>
                <a:cs typeface="Cambria" panose="02040503050406030204" pitchFamily="18" charset="0"/>
              </a:rPr>
              <a:t>2.2 Digital Academic Quality Assurance Systems</a:t>
            </a:r>
            <a:endParaRPr lang="en-US" altLang="en-GB" sz="1800" b="1">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Several institutions have started adopting digital tools for quality assurance:</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Learning Resource Management Systems (LRMS)</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Used to track and manage textbooks, but most do not include evaluation mechanisms.</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Quality Assessment Modules in LMS Platforms (Moodle, Blackboard)</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These platforms allow reviewing digital content but lack specialized book evaluation features with weighted parameters.</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Automated Rubric-Based Assessment Systems</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Common in student assessment, these systems demonstrate the effectiveness of score-based evaluations but are not tailored to book quality evaluation.</a:t>
            </a:r>
            <a:endParaRPr lang="en-US" altLang="en-GB" sz="1800">
              <a:latin typeface="Cambria" panose="02040503050406030204" pitchFamily="18" charset="0"/>
              <a:cs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ym typeface="+mn-ea"/>
              </a:rPr>
              <a:t>Background and Related work(contd...)</a:t>
            </a:r>
            <a:endParaRPr lang="en-GB" altLang="en-US"/>
          </a:p>
        </p:txBody>
      </p:sp>
      <p:sp>
        <p:nvSpPr>
          <p:cNvPr id="3" name="Text Placeholder 2"/>
          <p:cNvSpPr>
            <a:spLocks noGrp="1"/>
          </p:cNvSpPr>
          <p:nvPr>
            <p:ph type="body" idx="1"/>
          </p:nvPr>
        </p:nvSpPr>
        <p:spPr/>
        <p:txBody>
          <a:bodyPr>
            <a:normAutofit/>
          </a:bodyPr>
          <a:p>
            <a:pPr marL="76200" indent="0">
              <a:buNone/>
            </a:pPr>
            <a:r>
              <a:rPr lang="en-US" altLang="en-GB" sz="1800" b="1">
                <a:latin typeface="Cambria" panose="02040503050406030204" pitchFamily="18" charset="0"/>
                <a:cs typeface="Cambria" panose="02040503050406030204" pitchFamily="18" charset="0"/>
              </a:rPr>
              <a:t>2.3 Research on Educational Resource Evaluation</a:t>
            </a:r>
            <a:endParaRPr lang="en-US" altLang="en-GB" sz="1800" b="1">
              <a:latin typeface="Cambria" panose="02040503050406030204" pitchFamily="18" charset="0"/>
              <a:cs typeface="Cambria" panose="02040503050406030204" pitchFamily="18" charset="0"/>
            </a:endParaRPr>
          </a:p>
          <a:p>
            <a:pPr marL="76200" indent="0">
              <a:buNone/>
            </a:pPr>
            <a:r>
              <a:rPr lang="en-US" altLang="en-GB" sz="1800">
                <a:latin typeface="Cambria" panose="02040503050406030204" pitchFamily="18" charset="0"/>
                <a:cs typeface="Cambria" panose="02040503050406030204" pitchFamily="18" charset="0"/>
              </a:rPr>
              <a:t>Prior research in academic quality processes highlights the importance of:</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Standardized evaluation rubrics for ensuring consistent quality assessment</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Reviewer validation and tracking for accountability</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Analytical dashboards to support academic decision-making</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Automated scoring systems to reduce human bias</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Studies also emphasize the need for digitized academic quality assurance systems that integrate reviewer feedback with institutional databases.</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endParaRPr lang="en-US" altLang="en-GB" sz="1800">
              <a:latin typeface="Cambria" panose="02040503050406030204" pitchFamily="18" charset="0"/>
              <a:cs typeface="Cambria" panose="02040503050406030204" pitchFamily="18" charset="0"/>
            </a:endParaRPr>
          </a:p>
          <a:p>
            <a:pPr marL="76200" indent="0">
              <a:buFont typeface="Arial" panose="020B0604020202020204" pitchFamily="34" charset="0"/>
              <a:buNone/>
            </a:pPr>
            <a:r>
              <a:rPr lang="en-US" altLang="en-GB" sz="1800" b="1">
                <a:latin typeface="Cambria" panose="02040503050406030204" pitchFamily="18" charset="0"/>
                <a:cs typeface="Cambria" panose="02040503050406030204" pitchFamily="18" charset="0"/>
              </a:rPr>
              <a:t>2.4 Government/Institutional Quality Guidelines</a:t>
            </a:r>
            <a:endParaRPr lang="en-US" altLang="en-GB" sz="1800" b="1">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Authorities like AICTE, UGC, NAAC, and NBA recommend maintaining:</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Updated textbooks and reference materials</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Proper documentation of book quality verification</a:t>
            </a:r>
            <a:endParaRPr lang="en-US" altLang="en-GB" sz="18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800">
                <a:latin typeface="Cambria" panose="02040503050406030204" pitchFamily="18" charset="0"/>
                <a:cs typeface="Cambria" panose="02040503050406030204" pitchFamily="18" charset="0"/>
              </a:rPr>
              <a:t>Standardized evaluation processes for curriculum resources</a:t>
            </a:r>
            <a:endParaRPr lang="en-US" altLang="en-GB" sz="1800">
              <a:latin typeface="Cambria" panose="02040503050406030204" pitchFamily="18" charset="0"/>
              <a:cs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Diagram</a:t>
            </a:r>
            <a:endParaRPr lang="en-US" dirty="0"/>
          </a:p>
        </p:txBody>
      </p:sp>
      <p:pic>
        <p:nvPicPr>
          <p:cNvPr id="4" name="Picture 3" descr="A diagram of a system&#10;&#10;AI-generated content may be incorrect."/>
          <p:cNvPicPr>
            <a:picLocks noChangeAspect="1"/>
          </p:cNvPicPr>
          <p:nvPr/>
        </p:nvPicPr>
        <p:blipFill>
          <a:blip r:embed="rId1"/>
          <a:srcRect l="29715" t="16691" r="29715" b="16131"/>
          <a:stretch>
            <a:fillRect/>
          </a:stretch>
        </p:blipFill>
        <p:spPr>
          <a:xfrm>
            <a:off x="3489158" y="1196474"/>
            <a:ext cx="5220372" cy="4861095"/>
          </a:xfrm>
          <a:prstGeom prst="rect">
            <a:avLst/>
          </a:prstGeom>
        </p:spPr>
      </p:pic>
      <p:pic>
        <p:nvPicPr>
          <p:cNvPr id="11266" name="Picture 2" descr="C:\Users\91934\Downloads\Architecture_Diagram.png"/>
          <p:cNvPicPr>
            <a:picLocks noChangeAspect="1" noChangeArrowheads="1"/>
          </p:cNvPicPr>
          <p:nvPr/>
        </p:nvPicPr>
        <p:blipFill>
          <a:blip r:embed="rId2"/>
          <a:srcRect/>
          <a:stretch>
            <a:fillRect/>
          </a:stretch>
        </p:blipFill>
        <p:spPr bwMode="auto">
          <a:xfrm>
            <a:off x="564515" y="1348740"/>
            <a:ext cx="11068685" cy="474726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endParaRPr lang="en-US" dirty="0"/>
          </a:p>
        </p:txBody>
      </p:sp>
      <p:sp>
        <p:nvSpPr>
          <p:cNvPr id="3" name="Text Placeholder 2"/>
          <p:cNvSpPr>
            <a:spLocks noGrp="1"/>
          </p:cNvSpPr>
          <p:nvPr>
            <p:ph type="body" idx="1"/>
          </p:nvPr>
        </p:nvSpPr>
        <p:spPr/>
        <p:txBody>
          <a:bodyPr>
            <a:noAutofit/>
          </a:bodyPr>
          <a:lstStyle/>
          <a:p>
            <a:pPr>
              <a:buFont typeface="Arial" panose="020B0604020202020204" pitchFamily="34" charset="0"/>
              <a:buChar char="•"/>
            </a:pPr>
            <a:r>
              <a:rPr lang="en-US" sz="1400" b="1" dirty="0" smtClean="0">
                <a:latin typeface="Times New Roman" panose="02020603050405020304" charset="0"/>
                <a:cs typeface="Times New Roman" panose="02020603050405020304" charset="0"/>
                <a:sym typeface="+mn-ea"/>
              </a:rPr>
              <a:t>Authentication &amp; Role Management:</a:t>
            </a:r>
            <a:endParaRPr lang="en-US" sz="1400" dirty="0" smtClean="0">
              <a:latin typeface="Times New Roman" panose="02020603050405020304" charset="0"/>
              <a:cs typeface="Times New Roman" panose="02020603050405020304" charset="0"/>
            </a:endParaRPr>
          </a:p>
          <a:p>
            <a:pPr marL="76200" indent="0">
              <a:buFont typeface="Arial" panose="020B0604020202020204" pitchFamily="34" charset="0"/>
              <a:buNone/>
            </a:pP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Handles login and session storage.</a:t>
            </a:r>
            <a:endParaRPr lang="en-US" sz="1400" dirty="0" smtClean="0">
              <a:latin typeface="Times New Roman" panose="02020603050405020304" charset="0"/>
              <a:cs typeface="Times New Roman" panose="02020603050405020304" charset="0"/>
              <a:sym typeface="+mn-ea"/>
            </a:endParaRPr>
          </a:p>
          <a:p>
            <a:pPr marL="76200" indent="0">
              <a:buFont typeface="Arial" panose="020B0604020202020204" pitchFamily="34" charset="0"/>
              <a:buNone/>
            </a:pPr>
            <a:r>
              <a:rPr lang="en-US" sz="1400" dirty="0" smtClean="0">
                <a:latin typeface="Times New Roman" panose="02020603050405020304" charset="0"/>
                <a:cs typeface="Times New Roman" panose="02020603050405020304" charset="0"/>
                <a:sym typeface="+mn-ea"/>
              </a:rPr>
              <a:t> </a:t>
            </a: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Provides role-based access for </a:t>
            </a:r>
            <a:r>
              <a:rPr lang="en-US" sz="1400" b="1" dirty="0" smtClean="0">
                <a:latin typeface="Times New Roman" panose="02020603050405020304" charset="0"/>
                <a:cs typeface="Times New Roman" panose="02020603050405020304" charset="0"/>
                <a:sym typeface="+mn-ea"/>
              </a:rPr>
              <a:t>Student, Reviewer, and Admin/Committee</a:t>
            </a:r>
            <a:r>
              <a:rPr lang="en-US" sz="1400" dirty="0" smtClean="0">
                <a:latin typeface="Times New Roman" panose="02020603050405020304" charset="0"/>
                <a:cs typeface="Times New Roman" panose="02020603050405020304" charset="0"/>
                <a:sym typeface="+mn-ea"/>
              </a:rPr>
              <a:t>.</a:t>
            </a:r>
            <a:endParaRPr lang="en-US" sz="1400" dirty="0" smtClean="0">
              <a:latin typeface="Times New Roman" panose="02020603050405020304" charset="0"/>
              <a:cs typeface="Times New Roman" panose="02020603050405020304" charset="0"/>
            </a:endParaRPr>
          </a:p>
          <a:p>
            <a:pPr>
              <a:buFont typeface="Arial" panose="020B0604020202020204" pitchFamily="34" charset="0"/>
              <a:buChar char="•"/>
            </a:pPr>
            <a:r>
              <a:rPr lang="en-US" sz="1400" b="1" dirty="0" smtClean="0">
                <a:latin typeface="Times New Roman" panose="02020603050405020304" charset="0"/>
                <a:cs typeface="Times New Roman" panose="02020603050405020304" charset="0"/>
                <a:sym typeface="+mn-ea"/>
              </a:rPr>
              <a:t>Book Management Module:</a:t>
            </a:r>
            <a:endParaRPr lang="en-US" sz="1400" dirty="0" smtClean="0">
              <a:latin typeface="Times New Roman" panose="02020603050405020304" charset="0"/>
              <a:cs typeface="Times New Roman" panose="02020603050405020304" charset="0"/>
            </a:endParaRPr>
          </a:p>
          <a:p>
            <a:pPr marL="76200" indent="0">
              <a:buFont typeface="Arial" panose="020B0604020202020204" pitchFamily="34" charset="0"/>
              <a:buNone/>
            </a:pP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Displays textbooks with details (title, author, subject, rating).</a:t>
            </a:r>
            <a:endParaRPr lang="en-US" sz="1400" dirty="0" smtClean="0">
              <a:latin typeface="Times New Roman" panose="02020603050405020304" charset="0"/>
              <a:cs typeface="Times New Roman" panose="02020603050405020304" charset="0"/>
            </a:endParaRPr>
          </a:p>
          <a:p>
            <a:pPr marL="76200" indent="0">
              <a:buFont typeface="Arial" panose="020B0604020202020204" pitchFamily="34" charset="0"/>
              <a:buNone/>
            </a:pP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Allows searching, filtering, and browsing books.</a:t>
            </a:r>
            <a:endParaRPr lang="en-US" sz="1400" dirty="0" smtClean="0">
              <a:latin typeface="Times New Roman" panose="02020603050405020304" charset="0"/>
              <a:cs typeface="Times New Roman" panose="02020603050405020304" charset="0"/>
            </a:endParaRPr>
          </a:p>
          <a:p>
            <a:pPr>
              <a:buFont typeface="Arial" panose="020B0604020202020204" pitchFamily="34" charset="0"/>
              <a:buChar char="•"/>
            </a:pPr>
            <a:r>
              <a:rPr lang="en-US" sz="1400" b="1" dirty="0" smtClean="0">
                <a:latin typeface="Times New Roman" panose="02020603050405020304" charset="0"/>
                <a:cs typeface="Times New Roman" panose="02020603050405020304" charset="0"/>
                <a:sym typeface="+mn-ea"/>
              </a:rPr>
              <a:t>Review &amp; Rating Module:</a:t>
            </a:r>
            <a:endParaRPr lang="en-US" sz="1400" dirty="0" smtClean="0">
              <a:latin typeface="Times New Roman" panose="02020603050405020304" charset="0"/>
              <a:cs typeface="Times New Roman" panose="02020603050405020304" charset="0"/>
            </a:endParaRPr>
          </a:p>
          <a:p>
            <a:pPr marL="76200" indent="0">
              <a:buFont typeface="Arial" panose="020B0604020202020204" pitchFamily="34" charset="0"/>
              <a:buNone/>
            </a:pP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Students/Reviewers submit reviews with ratings and comments.</a:t>
            </a:r>
            <a:endParaRPr lang="en-US" sz="1400" dirty="0" smtClean="0">
              <a:latin typeface="Times New Roman" panose="02020603050405020304" charset="0"/>
              <a:cs typeface="Times New Roman" panose="02020603050405020304" charset="0"/>
            </a:endParaRPr>
          </a:p>
          <a:p>
            <a:pPr marL="76200" indent="0">
              <a:buFont typeface="Arial" panose="020B0604020202020204" pitchFamily="34" charset="0"/>
              <a:buNone/>
            </a:pP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Stores and updates aggregated book scores.</a:t>
            </a:r>
            <a:endParaRPr lang="en-US" sz="1400" dirty="0" smtClean="0">
              <a:latin typeface="Times New Roman" panose="02020603050405020304" charset="0"/>
              <a:cs typeface="Times New Roman" panose="02020603050405020304" charset="0"/>
            </a:endParaRPr>
          </a:p>
          <a:p>
            <a:pPr>
              <a:buFont typeface="Arial" panose="020B0604020202020204" pitchFamily="34" charset="0"/>
              <a:buChar char="•"/>
            </a:pPr>
            <a:r>
              <a:rPr lang="en-US" sz="1400" b="1" dirty="0" smtClean="0">
                <a:latin typeface="Times New Roman" panose="02020603050405020304" charset="0"/>
                <a:cs typeface="Times New Roman" panose="02020603050405020304" charset="0"/>
                <a:sym typeface="+mn-ea"/>
              </a:rPr>
              <a:t>Admin/Committee Module:</a:t>
            </a:r>
            <a:endParaRPr lang="en-US" sz="1400" dirty="0" smtClean="0">
              <a:latin typeface="Times New Roman" panose="02020603050405020304" charset="0"/>
              <a:cs typeface="Times New Roman" panose="02020603050405020304" charset="0"/>
            </a:endParaRPr>
          </a:p>
          <a:p>
            <a:pPr marL="76200" indent="0">
              <a:buFont typeface="Arial" panose="020B0604020202020204" pitchFamily="34" charset="0"/>
              <a:buNone/>
            </a:pP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Approves or rejects books.</a:t>
            </a:r>
            <a:endParaRPr lang="en-US" sz="1400" dirty="0" smtClean="0">
              <a:latin typeface="Times New Roman" panose="02020603050405020304" charset="0"/>
              <a:cs typeface="Times New Roman" panose="02020603050405020304" charset="0"/>
            </a:endParaRPr>
          </a:p>
          <a:p>
            <a:pPr marL="76200" indent="0">
              <a:buFont typeface="Arial" panose="020B0604020202020204" pitchFamily="34" charset="0"/>
              <a:buNone/>
            </a:pP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Monitors performance and ensures quality standards.</a:t>
            </a:r>
            <a:endParaRPr lang="en-US" sz="1400" dirty="0" smtClean="0">
              <a:latin typeface="Times New Roman" panose="02020603050405020304" charset="0"/>
              <a:cs typeface="Times New Roman" panose="02020603050405020304" charset="0"/>
            </a:endParaRPr>
          </a:p>
          <a:p>
            <a:pPr>
              <a:buFont typeface="Arial" panose="020B0604020202020204" pitchFamily="34" charset="0"/>
              <a:buChar char="•"/>
            </a:pPr>
            <a:r>
              <a:rPr lang="en-US" sz="1400" b="1" dirty="0" smtClean="0">
                <a:latin typeface="Times New Roman" panose="02020603050405020304" charset="0"/>
                <a:cs typeface="Times New Roman" panose="02020603050405020304" charset="0"/>
                <a:sym typeface="+mn-ea"/>
              </a:rPr>
              <a:t>Analytics &amp; Reporting Module:</a:t>
            </a:r>
            <a:endParaRPr lang="en-US" sz="1400" b="1" dirty="0" smtClean="0">
              <a:latin typeface="Times New Roman" panose="02020603050405020304" charset="0"/>
              <a:cs typeface="Times New Roman" panose="02020603050405020304" charset="0"/>
              <a:sym typeface="+mn-ea"/>
            </a:endParaRPr>
          </a:p>
          <a:p>
            <a:pPr marL="76200" indent="0">
              <a:buFont typeface="Arial" panose="020B0604020202020204" pitchFamily="34" charset="0"/>
              <a:buNone/>
            </a:pP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Uses </a:t>
            </a:r>
            <a:r>
              <a:rPr lang="en-US" sz="1400" b="1" dirty="0" err="1" smtClean="0">
                <a:latin typeface="Times New Roman" panose="02020603050405020304" charset="0"/>
                <a:cs typeface="Times New Roman" panose="02020603050405020304" charset="0"/>
                <a:sym typeface="+mn-ea"/>
              </a:rPr>
              <a:t>Recharts</a:t>
            </a:r>
            <a:r>
              <a:rPr lang="en-US" sz="1400" dirty="0" smtClean="0">
                <a:latin typeface="Times New Roman" panose="02020603050405020304" charset="0"/>
                <a:cs typeface="Times New Roman" panose="02020603050405020304" charset="0"/>
                <a:sym typeface="+mn-ea"/>
              </a:rPr>
              <a:t> for visual dashboards.</a:t>
            </a:r>
            <a:endParaRPr lang="en-US" sz="1400" dirty="0" smtClean="0">
              <a:latin typeface="Times New Roman" panose="02020603050405020304" charset="0"/>
              <a:cs typeface="Times New Roman" panose="02020603050405020304" charset="0"/>
            </a:endParaRPr>
          </a:p>
          <a:p>
            <a:pPr marL="76200" indent="0">
              <a:buFont typeface="Arial" panose="020B0604020202020204" pitchFamily="34" charset="0"/>
              <a:buNone/>
            </a:pP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Provides subject-wise averages and comparison charts.</a:t>
            </a:r>
            <a:endParaRPr lang="en-US" sz="1400" dirty="0" smtClean="0">
              <a:latin typeface="Times New Roman" panose="02020603050405020304" charset="0"/>
              <a:cs typeface="Times New Roman" panose="02020603050405020304" charset="0"/>
            </a:endParaRPr>
          </a:p>
          <a:p>
            <a:pPr>
              <a:buFont typeface="Arial" panose="020B0604020202020204" pitchFamily="34" charset="0"/>
              <a:buChar char="•"/>
            </a:pPr>
            <a:r>
              <a:rPr lang="en-US" sz="1400" b="1" dirty="0" smtClean="0">
                <a:latin typeface="Times New Roman" panose="02020603050405020304" charset="0"/>
                <a:cs typeface="Times New Roman" panose="02020603050405020304" charset="0"/>
                <a:sym typeface="+mn-ea"/>
              </a:rPr>
              <a:t>Storage Module:</a:t>
            </a:r>
            <a:endParaRPr lang="en-US" sz="1400" dirty="0" smtClean="0">
              <a:latin typeface="Times New Roman" panose="02020603050405020304" charset="0"/>
              <a:cs typeface="Times New Roman" panose="02020603050405020304" charset="0"/>
            </a:endParaRPr>
          </a:p>
          <a:p>
            <a:pPr marL="76200" indent="0">
              <a:buFont typeface="Arial" panose="020B0604020202020204" pitchFamily="34" charset="0"/>
              <a:buNone/>
            </a:pP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Uses </a:t>
            </a:r>
            <a:r>
              <a:rPr lang="en-US" sz="1400" b="1" dirty="0" err="1" smtClean="0">
                <a:latin typeface="Times New Roman" panose="02020603050405020304" charset="0"/>
                <a:cs typeface="Times New Roman" panose="02020603050405020304" charset="0"/>
                <a:sym typeface="+mn-ea"/>
              </a:rPr>
              <a:t>localStorage</a:t>
            </a:r>
            <a:r>
              <a:rPr lang="en-US" sz="1400" dirty="0" smtClean="0">
                <a:latin typeface="Times New Roman" panose="02020603050405020304" charset="0"/>
                <a:cs typeface="Times New Roman" panose="02020603050405020304" charset="0"/>
                <a:sym typeface="+mn-ea"/>
              </a:rPr>
              <a:t> (demo).</a:t>
            </a:r>
            <a:endParaRPr lang="en-US" sz="1400" dirty="0" smtClean="0">
              <a:latin typeface="Times New Roman" panose="02020603050405020304" charset="0"/>
              <a:cs typeface="Times New Roman" panose="02020603050405020304" charset="0"/>
            </a:endParaRPr>
          </a:p>
          <a:p>
            <a:pPr marL="76200" indent="0">
              <a:buFont typeface="Arial" panose="020B0604020202020204" pitchFamily="34" charset="0"/>
              <a:buNone/>
            </a:pPr>
            <a:r>
              <a:rPr lang="en-GB" altLang="en-US" sz="1400"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Can be extended to </a:t>
            </a:r>
            <a:r>
              <a:rPr lang="en-US" sz="1400" b="1" dirty="0" err="1" smtClean="0">
                <a:latin typeface="Times New Roman" panose="02020603050405020304" charset="0"/>
                <a:cs typeface="Times New Roman" panose="02020603050405020304" charset="0"/>
                <a:sym typeface="+mn-ea"/>
              </a:rPr>
              <a:t>MongoDB</a:t>
            </a:r>
            <a:r>
              <a:rPr lang="en-US" sz="1400" b="1" dirty="0" smtClean="0">
                <a:latin typeface="Times New Roman" panose="02020603050405020304" charset="0"/>
                <a:cs typeface="Times New Roman" panose="02020603050405020304" charset="0"/>
                <a:sym typeface="+mn-ea"/>
              </a:rPr>
              <a:t> </a:t>
            </a:r>
            <a:r>
              <a:rPr lang="en-US" sz="1400" dirty="0" smtClean="0">
                <a:latin typeface="Times New Roman" panose="02020603050405020304" charset="0"/>
                <a:cs typeface="Times New Roman" panose="02020603050405020304" charset="0"/>
                <a:sym typeface="+mn-ea"/>
              </a:rPr>
              <a:t> for persistence.</a:t>
            </a:r>
            <a:endParaRPr lang="en-US" sz="700" b="1" dirty="0" smtClean="0">
              <a:latin typeface="Times New Roman" panose="02020603050405020304" charset="0"/>
              <a:cs typeface="Times New Roman" panose="02020603050405020304"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Algorithms</a:t>
            </a:r>
            <a:endParaRPr lang="en-US" dirty="0"/>
          </a:p>
        </p:txBody>
      </p:sp>
      <p:sp>
        <p:nvSpPr>
          <p:cNvPr id="3" name="Text Placeholder 2"/>
          <p:cNvSpPr>
            <a:spLocks noGrp="1"/>
          </p:cNvSpPr>
          <p:nvPr>
            <p:ph type="body" idx="1"/>
          </p:nvPr>
        </p:nvSpPr>
        <p:spPr>
          <a:xfrm>
            <a:off x="692150" y="1000125"/>
            <a:ext cx="10978515" cy="4928235"/>
          </a:xfrm>
        </p:spPr>
        <p:txBody>
          <a:bodyPr>
            <a:noAutofit/>
          </a:bodyPr>
          <a:lstStyle/>
          <a:p>
            <a:pPr marL="76200" indent="0">
              <a:buNone/>
            </a:pPr>
            <a:r>
              <a:rPr lang="en-US" sz="1600">
                <a:latin typeface="Cambria" panose="02040503050406030204" pitchFamily="18" charset="0"/>
                <a:cs typeface="Cambria" panose="02040503050406030204" pitchFamily="18" charset="0"/>
              </a:rPr>
              <a:t>1. Authentication (bcrypt)</a:t>
            </a:r>
            <a:endParaRPr lang="en-US" sz="1600">
              <a:latin typeface="Cambria" panose="02040503050406030204" pitchFamily="18" charset="0"/>
              <a:cs typeface="Cambria" panose="02040503050406030204" pitchFamily="18" charset="0"/>
            </a:endParaRPr>
          </a:p>
          <a:p>
            <a:r>
              <a:rPr lang="en-US" sz="1600">
                <a:latin typeface="Cambria" panose="02040503050406030204" pitchFamily="18" charset="0"/>
                <a:cs typeface="Cambria" panose="02040503050406030204" pitchFamily="18" charset="0"/>
              </a:rPr>
              <a:t>Purpose: Securely verify user credentials using password hashing.</a:t>
            </a:r>
            <a:endParaRPr lang="en-US" sz="1600">
              <a:latin typeface="Cambria" panose="02040503050406030204" pitchFamily="18" charset="0"/>
              <a:cs typeface="Cambria" panose="02040503050406030204" pitchFamily="18" charset="0"/>
            </a:endParaRPr>
          </a:p>
          <a:p>
            <a:r>
              <a:rPr lang="en-US" sz="1600">
                <a:latin typeface="Cambria" panose="02040503050406030204" pitchFamily="18" charset="0"/>
                <a:cs typeface="Cambria" panose="02040503050406030204" pitchFamily="18" charset="0"/>
              </a:rPr>
              <a:t>Use: Protects all user accounts (students, mentors, and admins) by encrypting passwords with bcrypt, ensuring privacy and security during login and registration.</a:t>
            </a:r>
            <a:endParaRPr lang="en-US" sz="1600">
              <a:latin typeface="Cambria" panose="02040503050406030204" pitchFamily="18" charset="0"/>
              <a:cs typeface="Cambria" panose="02040503050406030204" pitchFamily="18" charset="0"/>
            </a:endParaRPr>
          </a:p>
          <a:p>
            <a:pPr>
              <a:buNone/>
            </a:pPr>
            <a:r>
              <a:rPr lang="en-US" sz="1600">
                <a:latin typeface="Cambria" panose="02040503050406030204" pitchFamily="18" charset="0"/>
                <a:cs typeface="Cambria" panose="02040503050406030204" pitchFamily="18" charset="0"/>
              </a:rPr>
              <a:t>2. Role-Based Access Control (RBAC)</a:t>
            </a:r>
            <a:endParaRPr lang="en-US" sz="1600">
              <a:latin typeface="Cambria" panose="02040503050406030204" pitchFamily="18" charset="0"/>
              <a:cs typeface="Cambria" panose="02040503050406030204" pitchFamily="18" charset="0"/>
            </a:endParaRPr>
          </a:p>
          <a:p>
            <a:pPr>
              <a:buFont typeface="Arial" panose="020B0604020202020204" pitchFamily="34" charset="0"/>
              <a:buChar char="•"/>
            </a:pPr>
            <a:r>
              <a:rPr lang="en-US" sz="1600">
                <a:latin typeface="Cambria" panose="02040503050406030204" pitchFamily="18" charset="0"/>
                <a:cs typeface="Cambria" panose="02040503050406030204" pitchFamily="18" charset="0"/>
              </a:rPr>
              <a:t>Purpose: Enforce data access boundaries based on user type.</a:t>
            </a:r>
            <a:endParaRPr lang="en-US" sz="1600">
              <a:latin typeface="Cambria" panose="02040503050406030204" pitchFamily="18" charset="0"/>
              <a:cs typeface="Cambria" panose="02040503050406030204" pitchFamily="18" charset="0"/>
            </a:endParaRPr>
          </a:p>
          <a:p>
            <a:pPr>
              <a:buFont typeface="Arial" panose="020B0604020202020204" pitchFamily="34" charset="0"/>
              <a:buChar char="•"/>
            </a:pPr>
            <a:r>
              <a:rPr lang="en-US" sz="1600">
                <a:latin typeface="Cambria" panose="02040503050406030204" pitchFamily="18" charset="0"/>
                <a:cs typeface="Cambria" panose="02040503050406030204" pitchFamily="18" charset="0"/>
              </a:rPr>
              <a:t>Use: Defines permissions for students, mentors, and administrators—ensuring each role can only access authorized modules such as progress tracking, mentorship dashboards, or content management.</a:t>
            </a:r>
            <a:endParaRPr lang="en-US" sz="1600">
              <a:latin typeface="Cambria" panose="02040503050406030204" pitchFamily="18" charset="0"/>
              <a:cs typeface="Cambria" panose="02040503050406030204" pitchFamily="18" charset="0"/>
            </a:endParaRPr>
          </a:p>
          <a:p>
            <a:pPr marL="76200" indent="0">
              <a:buNone/>
            </a:pPr>
            <a:r>
              <a:rPr lang="en-US" sz="1600">
                <a:latin typeface="Cambria" panose="02040503050406030204" pitchFamily="18" charset="0"/>
                <a:cs typeface="Cambria" panose="02040503050406030204" pitchFamily="18" charset="0"/>
              </a:rPr>
              <a:t>3. </a:t>
            </a:r>
            <a:r>
              <a:rPr lang="en-US" altLang="en-GB" sz="1600">
                <a:latin typeface="Cambria" panose="02040503050406030204" pitchFamily="18" charset="0"/>
                <a:cs typeface="Cambria" panose="02040503050406030204" pitchFamily="18" charset="0"/>
              </a:rPr>
              <a:t>Admin moderation workflow (Approval queue)</a:t>
            </a:r>
            <a:endParaRPr lang="en-US" altLang="en-GB" sz="16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600">
                <a:latin typeface="Cambria" panose="02040503050406030204" pitchFamily="18" charset="0"/>
                <a:cs typeface="Cambria" panose="02040503050406030204" pitchFamily="18" charset="0"/>
              </a:rPr>
              <a:t>Purpose: Present pending reviews/submissions and allow admins to approve/reject. Described in Admin Dashboard / Approval workflow.</a:t>
            </a:r>
            <a:r>
              <a:rPr lang="en-US" sz="1600">
                <a:latin typeface="Cambria" panose="02040503050406030204" pitchFamily="18" charset="0"/>
                <a:cs typeface="Cambria" panose="02040503050406030204" pitchFamily="18" charset="0"/>
              </a:rPr>
              <a:t>4. Session and Token Management</a:t>
            </a:r>
            <a:endParaRPr lang="en-US" sz="1600">
              <a:latin typeface="Cambria" panose="02040503050406030204" pitchFamily="18" charset="0"/>
              <a:cs typeface="Cambria" panose="02040503050406030204" pitchFamily="18" charset="0"/>
            </a:endParaRPr>
          </a:p>
          <a:p>
            <a:pPr marL="76200" indent="0">
              <a:buNone/>
            </a:pPr>
            <a:r>
              <a:rPr lang="en-GB" altLang="en-US" sz="1600">
                <a:latin typeface="Cambria" panose="02040503050406030204" pitchFamily="18" charset="0"/>
                <a:cs typeface="Cambria" panose="02040503050406030204" pitchFamily="18" charset="0"/>
              </a:rPr>
              <a:t>4. </a:t>
            </a:r>
            <a:r>
              <a:rPr lang="en-US" altLang="en-GB" sz="1600">
                <a:latin typeface="Cambria" panose="02040503050406030204" pitchFamily="18" charset="0"/>
                <a:cs typeface="Cambria" panose="02040503050406030204" pitchFamily="18" charset="0"/>
              </a:rPr>
              <a:t>Sentiment analysis on textual comments</a:t>
            </a:r>
            <a:endParaRPr lang="en-US" altLang="en-GB" sz="16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600">
                <a:latin typeface="Cambria" panose="02040503050406030204" pitchFamily="18" charset="0"/>
                <a:cs typeface="Cambria" panose="02040503050406030204" pitchFamily="18" charset="0"/>
              </a:rPr>
              <a:t>Use an NLP model (lightweight transformer or classical classifier) to classify review comments as positive/negative/neutral and extract top frequent issues (topic modeling).</a:t>
            </a:r>
            <a:endParaRPr lang="en-US" altLang="en-GB" sz="16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600">
                <a:latin typeface="Cambria" panose="02040503050406030204" pitchFamily="18" charset="0"/>
                <a:cs typeface="Cambria" panose="02040503050406030204" pitchFamily="18" charset="0"/>
              </a:rPr>
              <a:t>Benefit: surface common problems (outdated content, poor examples) automatically.</a:t>
            </a:r>
            <a:endParaRPr lang="en-US" altLang="en-GB" sz="1600">
              <a:latin typeface="Cambria" panose="02040503050406030204" pitchFamily="18" charset="0"/>
              <a:cs typeface="Cambria" panose="02040503050406030204" pitchFamily="18" charset="0"/>
            </a:endParaRPr>
          </a:p>
          <a:p>
            <a:pPr marL="76200" indent="0">
              <a:buFont typeface="Arial" panose="020B0604020202020204" pitchFamily="34" charset="0"/>
              <a:buNone/>
            </a:pPr>
            <a:r>
              <a:rPr lang="en-GB" altLang="en-US" sz="1600">
                <a:latin typeface="Cambria" panose="02040503050406030204" pitchFamily="18" charset="0"/>
                <a:cs typeface="Cambria" panose="02040503050406030204" pitchFamily="18" charset="0"/>
              </a:rPr>
              <a:t>5. </a:t>
            </a:r>
            <a:r>
              <a:rPr lang="en-US" altLang="en-GB" sz="1600">
                <a:latin typeface="Cambria" panose="02040503050406030204" pitchFamily="18" charset="0"/>
                <a:cs typeface="Cambria" panose="02040503050406030204" pitchFamily="18" charset="0"/>
              </a:rPr>
              <a:t>Automated rubric consistency checks</a:t>
            </a:r>
            <a:endParaRPr lang="en-US" altLang="en-GB" sz="16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600">
                <a:latin typeface="Cambria" panose="02040503050406030204" pitchFamily="18" charset="0"/>
                <a:cs typeface="Cambria" panose="02040503050406030204" pitchFamily="18" charset="0"/>
              </a:rPr>
              <a:t>Detect if reviewers assign contradictory scores (e.g., high overall score but low score on relevance) — </a:t>
            </a:r>
            <a:r>
              <a:rPr lang="en-US" altLang="en-GB" sz="1400">
                <a:latin typeface="Cambria" panose="02040503050406030204" pitchFamily="18" charset="0"/>
                <a:cs typeface="Cambria" panose="02040503050406030204" pitchFamily="18" charset="0"/>
              </a:rPr>
              <a:t>flag inconsistent entries.</a:t>
            </a:r>
            <a:endParaRPr lang="en-US" altLang="en-GB" sz="1400">
              <a:latin typeface="Cambria" panose="02040503050406030204" pitchFamily="18" charset="0"/>
              <a:cs typeface="Cambria" panose="02040503050406030204" pitchFamily="18" charset="0"/>
            </a:endParaRPr>
          </a:p>
          <a:p>
            <a:pPr>
              <a:buFont typeface="Arial" panose="020B0604020202020204" pitchFamily="34" charset="0"/>
              <a:buChar char="•"/>
            </a:pPr>
            <a:endParaRPr lang="en-US" sz="1400">
              <a:latin typeface="Cambria" panose="02040503050406030204" pitchFamily="18" charset="0"/>
              <a:cs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ym typeface="+mn-ea"/>
              </a:rPr>
              <a:t>Algorithms</a:t>
            </a:r>
            <a:endParaRPr lang="en-GB" altLang="en-US"/>
          </a:p>
        </p:txBody>
      </p:sp>
      <p:sp>
        <p:nvSpPr>
          <p:cNvPr id="3" name="Text Placeholder 2"/>
          <p:cNvSpPr>
            <a:spLocks noGrp="1"/>
          </p:cNvSpPr>
          <p:nvPr>
            <p:ph type="body" idx="1"/>
          </p:nvPr>
        </p:nvSpPr>
        <p:spPr/>
        <p:txBody>
          <a:bodyPr/>
          <a:p>
            <a:pPr marL="76200" indent="0">
              <a:buNone/>
            </a:pPr>
            <a:r>
              <a:rPr lang="en-GB" altLang="en-US" sz="1600">
                <a:latin typeface="Cambria" panose="02040503050406030204" pitchFamily="18" charset="0"/>
                <a:cs typeface="Cambria" panose="02040503050406030204" pitchFamily="18" charset="0"/>
              </a:rPr>
              <a:t>5. </a:t>
            </a:r>
            <a:r>
              <a:rPr lang="en-US" altLang="en-GB" sz="1600">
                <a:latin typeface="Cambria" panose="02040503050406030204" pitchFamily="18" charset="0"/>
                <a:cs typeface="Cambria" panose="02040503050406030204" pitchFamily="18" charset="0"/>
              </a:rPr>
              <a:t>Recommendation engine (book suggestions)</a:t>
            </a:r>
            <a:endParaRPr lang="en-US" altLang="en-GB" sz="1600">
              <a:latin typeface="Cambria" panose="02040503050406030204" pitchFamily="18" charset="0"/>
              <a:cs typeface="Cambria" panose="02040503050406030204" pitchFamily="18" charset="0"/>
            </a:endParaRPr>
          </a:p>
          <a:p>
            <a:r>
              <a:rPr lang="en-US" altLang="en-GB" sz="1600">
                <a:latin typeface="Cambria" panose="02040503050406030204" pitchFamily="18" charset="0"/>
                <a:cs typeface="Cambria" panose="02040503050406030204" pitchFamily="18" charset="0"/>
              </a:rPr>
              <a:t>Simple collaborative filter: recommend books that reviewers who liked Book A also rated highly.</a:t>
            </a:r>
            <a:endParaRPr lang="en-US" altLang="en-GB" sz="1600">
              <a:latin typeface="Cambria" panose="02040503050406030204" pitchFamily="18" charset="0"/>
              <a:cs typeface="Cambria" panose="02040503050406030204" pitchFamily="18" charset="0"/>
            </a:endParaRPr>
          </a:p>
          <a:p>
            <a:r>
              <a:rPr lang="en-US" altLang="en-GB" sz="1600">
                <a:latin typeface="Cambria" panose="02040503050406030204" pitchFamily="18" charset="0"/>
                <a:cs typeface="Cambria" panose="02040503050406030204" pitchFamily="18" charset="0"/>
              </a:rPr>
              <a:t>Algorithms: item-based collaborative filtering (cosine similarity over rating vectors) or matrix factorization.</a:t>
            </a:r>
            <a:endParaRPr lang="en-US" altLang="en-GB" sz="1600">
              <a:latin typeface="Cambria" panose="02040503050406030204" pitchFamily="18" charset="0"/>
              <a:cs typeface="Cambria" panose="02040503050406030204" pitchFamily="18" charset="0"/>
            </a:endParaRPr>
          </a:p>
          <a:p>
            <a:pPr marL="76200" indent="0">
              <a:buNone/>
            </a:pPr>
            <a:r>
              <a:rPr lang="en-GB" altLang="en-US" sz="1600">
                <a:latin typeface="Cambria" panose="02040503050406030204" pitchFamily="18" charset="0"/>
                <a:cs typeface="Cambria" panose="02040503050406030204" pitchFamily="18" charset="0"/>
              </a:rPr>
              <a:t>6. </a:t>
            </a:r>
            <a:r>
              <a:rPr lang="en-US" altLang="en-GB" sz="1600">
                <a:latin typeface="Cambria" panose="02040503050406030204" pitchFamily="18" charset="0"/>
                <a:cs typeface="Cambria" panose="02040503050406030204" pitchFamily="18" charset="0"/>
              </a:rPr>
              <a:t>Security / reliability algorithms</a:t>
            </a:r>
            <a:endParaRPr lang="en-US" altLang="en-GB" sz="1600">
              <a:latin typeface="Cambria" panose="02040503050406030204" pitchFamily="18" charset="0"/>
              <a:cs typeface="Cambria" panose="02040503050406030204" pitchFamily="18" charset="0"/>
            </a:endParaRPr>
          </a:p>
          <a:p>
            <a:pPr marL="76200" indent="0">
              <a:buNone/>
            </a:pPr>
            <a:r>
              <a:rPr lang="en-US" altLang="en-GB" sz="1600">
                <a:latin typeface="Cambria" panose="02040503050406030204" pitchFamily="18" charset="0"/>
                <a:cs typeface="Cambria" panose="02040503050406030204" pitchFamily="18" charset="0"/>
              </a:rPr>
              <a:t>A. Rate limiting / spam detection</a:t>
            </a:r>
            <a:endParaRPr lang="en-US" altLang="en-GB" sz="16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600">
                <a:latin typeface="Cambria" panose="02040503050406030204" pitchFamily="18" charset="0"/>
                <a:cs typeface="Cambria" panose="02040503050406030204" pitchFamily="18" charset="0"/>
              </a:rPr>
              <a:t>Simple per-user rate limit on submissions to prevent spam.</a:t>
            </a:r>
            <a:endParaRPr lang="en-US" altLang="en-GB" sz="16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600">
                <a:latin typeface="Cambria" panose="02040503050406030204" pitchFamily="18" charset="0"/>
                <a:cs typeface="Cambria" panose="02040503050406030204" pitchFamily="18" charset="0"/>
              </a:rPr>
              <a:t>Heuristic spam detection: very short comments, identical repeated comments, too many submissions in short time </a:t>
            </a:r>
            <a:r>
              <a:rPr lang="en-US" altLang="en-US" sz="1600">
                <a:latin typeface="Cambria" panose="02040503050406030204" pitchFamily="18" charset="0"/>
                <a:cs typeface="Cambria" panose="02040503050406030204" pitchFamily="18" charset="0"/>
              </a:rPr>
              <a:t>→</a:t>
            </a:r>
            <a:r>
              <a:rPr lang="en-US" altLang="en-GB" sz="1600">
                <a:latin typeface="Cambria" panose="02040503050406030204" pitchFamily="18" charset="0"/>
                <a:cs typeface="Cambria" panose="02040503050406030204" pitchFamily="18" charset="0"/>
              </a:rPr>
              <a:t> mark for review.</a:t>
            </a:r>
            <a:endParaRPr lang="en-US" altLang="en-GB" sz="1600">
              <a:latin typeface="Cambria" panose="02040503050406030204" pitchFamily="18" charset="0"/>
              <a:cs typeface="Cambria" panose="02040503050406030204" pitchFamily="18" charset="0"/>
            </a:endParaRPr>
          </a:p>
          <a:p>
            <a:pPr marL="76200" indent="0">
              <a:buNone/>
            </a:pPr>
            <a:r>
              <a:rPr lang="en-US" altLang="en-GB" sz="1600">
                <a:latin typeface="Cambria" panose="02040503050406030204" pitchFamily="18" charset="0"/>
                <a:cs typeface="Cambria" panose="02040503050406030204" pitchFamily="18" charset="0"/>
              </a:rPr>
              <a:t>B. Row-Level Security enforcement</a:t>
            </a:r>
            <a:endParaRPr lang="en-US" altLang="en-GB" sz="16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600">
                <a:latin typeface="Cambria" panose="02040503050406030204" pitchFamily="18" charset="0"/>
                <a:cs typeface="Cambria" panose="02040503050406030204" pitchFamily="18" charset="0"/>
              </a:rPr>
              <a:t>Implemented via Supabase/Postgres RLS policies: ensures users can only edit their own reviews, admins can view all. (This is described in Security Requirements.)</a:t>
            </a:r>
            <a:endParaRPr lang="en-US" altLang="en-GB" sz="1600">
              <a:latin typeface="Cambria" panose="02040503050406030204" pitchFamily="18" charset="0"/>
              <a:cs typeface="Cambria" panose="02040503050406030204" pitchFamily="18" charset="0"/>
            </a:endParaRPr>
          </a:p>
          <a:p>
            <a:pPr marL="76200" indent="0">
              <a:buFont typeface="Arial" panose="020B0604020202020204" pitchFamily="34" charset="0"/>
              <a:buNone/>
            </a:pPr>
            <a:r>
              <a:rPr lang="en-GB" altLang="en-US" sz="1600">
                <a:latin typeface="Cambria" panose="02040503050406030204" pitchFamily="18" charset="0"/>
                <a:cs typeface="Cambria" panose="02040503050406030204" pitchFamily="18" charset="0"/>
              </a:rPr>
              <a:t>7. </a:t>
            </a:r>
            <a:r>
              <a:rPr lang="en-US" altLang="en-GB" sz="1600">
                <a:latin typeface="Cambria" panose="02040503050406030204" pitchFamily="18" charset="0"/>
                <a:cs typeface="Cambria" panose="02040503050406030204" pitchFamily="18" charset="0"/>
              </a:rPr>
              <a:t>Trend computation &amp; dashboards</a:t>
            </a:r>
            <a:endParaRPr lang="en-US" altLang="en-GB" sz="1600">
              <a:latin typeface="Cambria" panose="02040503050406030204" pitchFamily="18" charset="0"/>
              <a:cs typeface="Cambria" panose="02040503050406030204" pitchFamily="18" charset="0"/>
            </a:endParaRPr>
          </a:p>
          <a:p>
            <a:pPr>
              <a:buFont typeface="Arial" panose="020B0604020202020204" pitchFamily="34" charset="0"/>
              <a:buChar char="•"/>
            </a:pPr>
            <a:r>
              <a:rPr lang="en-US" altLang="en-GB" sz="1600">
                <a:latin typeface="Cambria" panose="02040503050406030204" pitchFamily="18" charset="0"/>
                <a:cs typeface="Cambria" panose="02040503050406030204" pitchFamily="18" charset="0"/>
              </a:rPr>
              <a:t>Purpose: Compute time-series (ratings over time), top-rated books, and per-criterion averages used in admin dashboards. Report references analytics module</a:t>
            </a:r>
            <a:endParaRPr lang="en-US" altLang="en-GB" sz="1600">
              <a:latin typeface="Cambria" panose="02040503050406030204" pitchFamily="18" charset="0"/>
              <a:cs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panose="02040503050406030204"/>
                <a:ea typeface="Cambria" panose="02040503050406030204"/>
              </a:rPr>
              <a:t>Hardware and Software Requirements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857250"/>
            <a:ext cx="10668000" cy="4953000"/>
          </a:xfrm>
          <a:prstGeom prst="rect">
            <a:avLst/>
          </a:prstGeom>
          <a:noFill/>
          <a:ln>
            <a:noFill/>
          </a:ln>
        </p:spPr>
        <p:txBody>
          <a:bodyPr spcFirstLastPara="1" wrap="square" lIns="91425" tIns="45700" rIns="91425" bIns="45700" anchor="t" anchorCtr="0">
            <a:noAutofit/>
          </a:bodyPr>
          <a:lstStyle/>
          <a:p>
            <a:pPr marL="342900" lvl="0" indent="-190500" algn="just" rtl="0">
              <a:spcBef>
                <a:spcPts val="0"/>
              </a:spcBef>
              <a:spcAft>
                <a:spcPts val="0"/>
              </a:spcAft>
              <a:buClr>
                <a:schemeClr val="dk1"/>
              </a:buClr>
              <a:buSzPct val="100000"/>
              <a:buNone/>
            </a:pPr>
            <a:r>
              <a:rPr lang="en-US" altLang="en-US" sz="1800" b="1" dirty="0">
                <a:latin typeface="Cambria" panose="02040503050406030204" pitchFamily="18" charset="0"/>
                <a:ea typeface="Cambria" panose="02040503050406030204" pitchFamily="18" charset="0"/>
                <a:cs typeface="Cambria" panose="02040503050406030204" pitchFamily="18" charset="0"/>
                <a:sym typeface="+mn-ea"/>
              </a:rPr>
              <a:t>Hardware</a:t>
            </a:r>
            <a:r>
              <a:rPr lang="en-US" altLang="en-US" sz="1800" dirty="0" smtClean="0">
                <a:latin typeface="Cambria" panose="02040503050406030204" pitchFamily="18" charset="0"/>
                <a:ea typeface="Cambria" panose="02040503050406030204" pitchFamily="18" charset="0"/>
                <a:cs typeface="Cambria" panose="02040503050406030204" pitchFamily="18" charset="0"/>
                <a:sym typeface="+mn-ea"/>
              </a:rPr>
              <a:t>:</a:t>
            </a:r>
            <a:endParaRPr lang="en-US" altLang="en-US" sz="1800" dirty="0">
              <a:latin typeface="Cambria" panose="02040503050406030204" pitchFamily="18" charset="0"/>
              <a:ea typeface="Cambria" panose="02040503050406030204" pitchFamily="18" charset="0"/>
              <a:cs typeface="Cambria" panose="02040503050406030204" pitchFamily="18" charset="0"/>
            </a:endParaRPr>
          </a:p>
          <a:p>
            <a:pPr marL="342900" indent="457200" algn="just">
              <a:spcBef>
                <a:spcPts val="0"/>
              </a:spcBef>
              <a:buSzPct val="100000"/>
            </a:pPr>
            <a:r>
              <a:rPr lang="en-US" altLang="en-US" sz="1800" dirty="0" smtClean="0">
                <a:latin typeface="Cambria" panose="02040503050406030204" pitchFamily="18" charset="0"/>
                <a:ea typeface="Cambria" panose="02040503050406030204" pitchFamily="18" charset="0"/>
                <a:cs typeface="Cambria" panose="02040503050406030204" pitchFamily="18" charset="0"/>
                <a:sym typeface="+mn-ea"/>
              </a:rPr>
              <a:t>Laptop/Server,</a:t>
            </a:r>
            <a:endParaRPr lang="en-US" altLang="en-US" sz="1800" dirty="0">
              <a:latin typeface="Cambria" panose="02040503050406030204" pitchFamily="18" charset="0"/>
              <a:ea typeface="Cambria" panose="02040503050406030204" pitchFamily="18" charset="0"/>
              <a:cs typeface="Cambria" panose="02040503050406030204" pitchFamily="18" charset="0"/>
            </a:endParaRPr>
          </a:p>
          <a:p>
            <a:pPr marL="342900" indent="457200" algn="just">
              <a:spcBef>
                <a:spcPts val="0"/>
              </a:spcBef>
              <a:buSzPct val="100000"/>
            </a:pPr>
            <a:r>
              <a:rPr lang="en-US" altLang="en-US" sz="1800" dirty="0" smtClean="0">
                <a:latin typeface="Cambria" panose="02040503050406030204" pitchFamily="18" charset="0"/>
                <a:ea typeface="Cambria" panose="02040503050406030204" pitchFamily="18" charset="0"/>
                <a:cs typeface="Cambria" panose="02040503050406030204" pitchFamily="18" charset="0"/>
                <a:sym typeface="+mn-ea"/>
              </a:rPr>
              <a:t>Internet.</a:t>
            </a:r>
            <a:endParaRPr lang="en-US" altLang="en-US" sz="1800" dirty="0">
              <a:latin typeface="Cambria" panose="02040503050406030204" pitchFamily="18" charset="0"/>
              <a:ea typeface="Cambria" panose="02040503050406030204" pitchFamily="18" charset="0"/>
              <a:cs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1800" dirty="0">
              <a:latin typeface="Cambria" panose="02040503050406030204" pitchFamily="18" charset="0"/>
              <a:ea typeface="Cambria" panose="02040503050406030204" pitchFamily="18" charset="0"/>
              <a:cs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sz="1800" b="1" dirty="0">
                <a:latin typeface="Cambria" panose="02040503050406030204" pitchFamily="18" charset="0"/>
                <a:ea typeface="Cambria" panose="02040503050406030204" pitchFamily="18" charset="0"/>
                <a:cs typeface="Cambria" panose="02040503050406030204" pitchFamily="18" charset="0"/>
                <a:sym typeface="+mn-ea"/>
              </a:rPr>
              <a:t>Software</a:t>
            </a:r>
            <a:r>
              <a:rPr lang="en-US" altLang="en-US" sz="1800" dirty="0">
                <a:latin typeface="Cambria" panose="02040503050406030204" pitchFamily="18" charset="0"/>
                <a:ea typeface="Cambria" panose="02040503050406030204" pitchFamily="18" charset="0"/>
                <a:cs typeface="Cambria" panose="02040503050406030204" pitchFamily="18" charset="0"/>
                <a:sym typeface="+mn-ea"/>
              </a:rPr>
              <a:t>: </a:t>
            </a:r>
            <a:endParaRPr lang="en-US" altLang="en-US" sz="1800" dirty="0">
              <a:latin typeface="Cambria" panose="02040503050406030204" pitchFamily="18" charset="0"/>
              <a:ea typeface="Cambria" panose="02040503050406030204" pitchFamily="18" charset="0"/>
              <a:cs typeface="Cambria" panose="02040503050406030204" pitchFamily="18" charset="0"/>
            </a:endParaRPr>
          </a:p>
          <a:p>
            <a:pPr marL="152400" indent="0" algn="just">
              <a:lnSpc>
                <a:spcPct val="200000"/>
              </a:lnSpc>
              <a:spcBef>
                <a:spcPts val="0"/>
              </a:spcBef>
              <a:buNone/>
            </a:pPr>
            <a:r>
              <a:rPr lang="en-US" sz="1800" b="1" dirty="0" smtClean="0">
                <a:latin typeface="Cambria" panose="02040503050406030204" pitchFamily="18" charset="0"/>
                <a:cs typeface="Cambria" panose="02040503050406030204" pitchFamily="18" charset="0"/>
                <a:sym typeface="+mn-ea"/>
              </a:rPr>
              <a:t>Node.js &amp; </a:t>
            </a:r>
            <a:r>
              <a:rPr lang="en-US" sz="1800" b="1" dirty="0" err="1" smtClean="0">
                <a:latin typeface="Cambria" panose="02040503050406030204" pitchFamily="18" charset="0"/>
                <a:cs typeface="Cambria" panose="02040503050406030204" pitchFamily="18" charset="0"/>
                <a:sym typeface="+mn-ea"/>
              </a:rPr>
              <a:t>npm</a:t>
            </a:r>
            <a:r>
              <a:rPr lang="en-US" sz="1800" b="1" dirty="0" smtClean="0">
                <a:latin typeface="Cambria" panose="02040503050406030204" pitchFamily="18" charset="0"/>
                <a:cs typeface="Cambria" panose="02040503050406030204" pitchFamily="18" charset="0"/>
                <a:sym typeface="+mn-ea"/>
              </a:rPr>
              <a:t>:</a:t>
            </a:r>
            <a:r>
              <a:rPr lang="en-US" sz="1800" dirty="0" smtClean="0">
                <a:latin typeface="Cambria" panose="02040503050406030204" pitchFamily="18" charset="0"/>
                <a:cs typeface="Cambria" panose="02040503050406030204" pitchFamily="18" charset="0"/>
                <a:sym typeface="+mn-ea"/>
              </a:rPr>
              <a:t> Node 18.x LTS (or Node 20.x); </a:t>
            </a:r>
            <a:r>
              <a:rPr lang="en-US" sz="1800" dirty="0" err="1" smtClean="0">
                <a:latin typeface="Cambria" panose="02040503050406030204" pitchFamily="18" charset="0"/>
                <a:cs typeface="Cambria" panose="02040503050406030204" pitchFamily="18" charset="0"/>
                <a:sym typeface="+mn-ea"/>
              </a:rPr>
              <a:t>npm</a:t>
            </a:r>
            <a:r>
              <a:rPr lang="en-US" sz="1800" dirty="0" smtClean="0">
                <a:latin typeface="Cambria" panose="02040503050406030204" pitchFamily="18" charset="0"/>
                <a:cs typeface="Cambria" panose="02040503050406030204" pitchFamily="18" charset="0"/>
                <a:sym typeface="+mn-ea"/>
              </a:rPr>
              <a:t> bundled.</a:t>
            </a:r>
            <a:endParaRPr lang="en-US" sz="1800" dirty="0" smtClean="0">
              <a:latin typeface="Cambria" panose="02040503050406030204" pitchFamily="18" charset="0"/>
              <a:cs typeface="Cambria" panose="02040503050406030204" pitchFamily="18" charset="0"/>
            </a:endParaRPr>
          </a:p>
          <a:p>
            <a:pPr lvl="1"/>
            <a:r>
              <a:rPr lang="en-US" sz="1800" dirty="0" smtClean="0">
                <a:latin typeface="Cambria" panose="02040503050406030204" pitchFamily="18" charset="0"/>
                <a:cs typeface="Cambria" panose="02040503050406030204" pitchFamily="18" charset="0"/>
                <a:sym typeface="+mn-ea"/>
              </a:rPr>
              <a:t>Check with: node -v and </a:t>
            </a:r>
            <a:r>
              <a:rPr lang="en-US" sz="1800" dirty="0" err="1" smtClean="0">
                <a:latin typeface="Cambria" panose="02040503050406030204" pitchFamily="18" charset="0"/>
                <a:cs typeface="Cambria" panose="02040503050406030204" pitchFamily="18" charset="0"/>
                <a:sym typeface="+mn-ea"/>
              </a:rPr>
              <a:t>npm</a:t>
            </a:r>
            <a:r>
              <a:rPr lang="en-US" sz="1800" dirty="0" smtClean="0">
                <a:latin typeface="Cambria" panose="02040503050406030204" pitchFamily="18" charset="0"/>
                <a:cs typeface="Cambria" panose="02040503050406030204" pitchFamily="18" charset="0"/>
                <a:sym typeface="+mn-ea"/>
              </a:rPr>
              <a:t> -v</a:t>
            </a:r>
            <a:endParaRPr lang="en-US" sz="1800" dirty="0" smtClean="0">
              <a:latin typeface="Cambria" panose="02040503050406030204" pitchFamily="18" charset="0"/>
              <a:cs typeface="Cambria" panose="02040503050406030204" pitchFamily="18" charset="0"/>
            </a:endParaRPr>
          </a:p>
          <a:p>
            <a:pPr marL="152400" indent="0" algn="just">
              <a:lnSpc>
                <a:spcPct val="200000"/>
              </a:lnSpc>
              <a:spcBef>
                <a:spcPts val="0"/>
              </a:spcBef>
              <a:buNone/>
            </a:pPr>
            <a:r>
              <a:rPr lang="en-US" sz="1800" b="1" dirty="0" smtClean="0">
                <a:latin typeface="Cambria" panose="02040503050406030204" pitchFamily="18" charset="0"/>
                <a:cs typeface="Cambria" panose="02040503050406030204" pitchFamily="18" charset="0"/>
                <a:sym typeface="+mn-ea"/>
              </a:rPr>
              <a:t>Code editor:</a:t>
            </a:r>
            <a:r>
              <a:rPr lang="en-US" sz="1800" dirty="0" smtClean="0">
                <a:latin typeface="Cambria" panose="02040503050406030204" pitchFamily="18" charset="0"/>
                <a:cs typeface="Cambria" panose="02040503050406030204" pitchFamily="18" charset="0"/>
                <a:sym typeface="+mn-ea"/>
              </a:rPr>
              <a:t> Visual Studio Code (recommended) or Notepad / Notepad++.</a:t>
            </a:r>
            <a:endParaRPr lang="en-US" sz="1800" dirty="0" smtClean="0">
              <a:latin typeface="Cambria" panose="02040503050406030204" pitchFamily="18" charset="0"/>
              <a:cs typeface="Cambria" panose="02040503050406030204" pitchFamily="18" charset="0"/>
            </a:endParaRPr>
          </a:p>
          <a:p>
            <a:pPr marL="152400" indent="0" algn="just">
              <a:lnSpc>
                <a:spcPct val="200000"/>
              </a:lnSpc>
              <a:spcBef>
                <a:spcPts val="0"/>
              </a:spcBef>
              <a:buNone/>
            </a:pPr>
            <a:r>
              <a:rPr lang="en-US" sz="1800" b="1" dirty="0" err="1" smtClean="0">
                <a:latin typeface="Cambria" panose="02040503050406030204" pitchFamily="18" charset="0"/>
                <a:cs typeface="Cambria" panose="02040503050406030204" pitchFamily="18" charset="0"/>
                <a:sym typeface="+mn-ea"/>
              </a:rPr>
              <a:t>Git</a:t>
            </a:r>
            <a:r>
              <a:rPr lang="en-US" sz="1800" b="1" dirty="0" smtClean="0">
                <a:latin typeface="Cambria" panose="02040503050406030204" pitchFamily="18" charset="0"/>
                <a:cs typeface="Cambria" panose="02040503050406030204" pitchFamily="18" charset="0"/>
                <a:sym typeface="+mn-ea"/>
              </a:rPr>
              <a:t>:</a:t>
            </a:r>
            <a:r>
              <a:rPr lang="en-US" sz="1800" dirty="0" smtClean="0">
                <a:latin typeface="Cambria" panose="02040503050406030204" pitchFamily="18" charset="0"/>
                <a:cs typeface="Cambria" panose="02040503050406030204" pitchFamily="18" charset="0"/>
                <a:sym typeface="+mn-ea"/>
              </a:rPr>
              <a:t> for version control (</a:t>
            </a:r>
            <a:r>
              <a:rPr lang="en-US" sz="1800" dirty="0" err="1" smtClean="0">
                <a:latin typeface="Cambria" panose="02040503050406030204" pitchFamily="18" charset="0"/>
                <a:cs typeface="Cambria" panose="02040503050406030204" pitchFamily="18" charset="0"/>
                <a:sym typeface="+mn-ea"/>
              </a:rPr>
              <a:t>git</a:t>
            </a:r>
            <a:r>
              <a:rPr lang="en-US" sz="1800" dirty="0" smtClean="0">
                <a:latin typeface="Cambria" panose="02040503050406030204" pitchFamily="18" charset="0"/>
                <a:cs typeface="Cambria" panose="02040503050406030204" pitchFamily="18" charset="0"/>
                <a:sym typeface="+mn-ea"/>
              </a:rPr>
              <a:t> CLI).</a:t>
            </a:r>
            <a:endParaRPr lang="en-US" sz="1800" dirty="0" smtClean="0">
              <a:latin typeface="Cambria" panose="02040503050406030204" pitchFamily="18" charset="0"/>
              <a:cs typeface="Cambria" panose="02040503050406030204" pitchFamily="18" charset="0"/>
            </a:endParaRPr>
          </a:p>
          <a:p>
            <a:pPr marL="152400" indent="0" algn="just">
              <a:lnSpc>
                <a:spcPct val="200000"/>
              </a:lnSpc>
              <a:spcBef>
                <a:spcPts val="0"/>
              </a:spcBef>
              <a:buNone/>
            </a:pPr>
            <a:r>
              <a:rPr lang="en-US" sz="1800" b="1" dirty="0" smtClean="0">
                <a:latin typeface="Cambria" panose="02040503050406030204" pitchFamily="18" charset="0"/>
                <a:cs typeface="Cambria" panose="02040503050406030204" pitchFamily="18" charset="0"/>
                <a:sym typeface="+mn-ea"/>
              </a:rPr>
              <a:t>Browser:</a:t>
            </a:r>
            <a:r>
              <a:rPr lang="en-US" sz="1800" dirty="0" smtClean="0">
                <a:latin typeface="Cambria" panose="02040503050406030204" pitchFamily="18" charset="0"/>
                <a:cs typeface="Cambria" panose="02040503050406030204" pitchFamily="18" charset="0"/>
                <a:sym typeface="+mn-ea"/>
              </a:rPr>
              <a:t> Chrome, Firefox, Edge (latest stable) for testing.</a:t>
            </a:r>
            <a:endParaRPr lang="en-US" sz="1800" dirty="0" smtClean="0">
              <a:latin typeface="Cambria" panose="02040503050406030204" pitchFamily="18" charset="0"/>
              <a:cs typeface="Cambria" panose="02040503050406030204" pitchFamily="18" charset="0"/>
            </a:endParaRPr>
          </a:p>
          <a:p>
            <a:pPr marL="152400" indent="0" algn="just">
              <a:lnSpc>
                <a:spcPct val="200000"/>
              </a:lnSpc>
              <a:spcBef>
                <a:spcPts val="0"/>
              </a:spcBef>
              <a:buNone/>
            </a:pPr>
            <a:r>
              <a:rPr lang="en-US" sz="1800" b="1" dirty="0" smtClean="0">
                <a:latin typeface="Cambria" panose="02040503050406030204" pitchFamily="18" charset="0"/>
                <a:cs typeface="Cambria" panose="02040503050406030204" pitchFamily="18" charset="0"/>
                <a:sym typeface="+mn-ea"/>
              </a:rPr>
              <a:t>Frame work:</a:t>
            </a:r>
            <a:r>
              <a:rPr lang="en-US" sz="1800" dirty="0" smtClean="0">
                <a:latin typeface="Cambria" panose="02040503050406030204" pitchFamily="18" charset="0"/>
                <a:cs typeface="Cambria" panose="02040503050406030204" pitchFamily="18" charset="0"/>
                <a:sym typeface="+mn-ea"/>
              </a:rPr>
              <a:t> React(v18+) with </a:t>
            </a:r>
            <a:r>
              <a:rPr lang="en-US" sz="1800" dirty="0" err="1" smtClean="0">
                <a:latin typeface="Cambria" panose="02040503050406030204" pitchFamily="18" charset="0"/>
                <a:cs typeface="Cambria" panose="02040503050406030204" pitchFamily="18" charset="0"/>
                <a:sym typeface="+mn-ea"/>
              </a:rPr>
              <a:t>TypeScript</a:t>
            </a:r>
            <a:endParaRPr lang="en-US" sz="1800" dirty="0" smtClean="0">
              <a:latin typeface="Cambria" panose="02040503050406030204" pitchFamily="18" charset="0"/>
              <a:cs typeface="Cambria" panose="02040503050406030204" pitchFamily="18" charset="0"/>
            </a:endParaRPr>
          </a:p>
          <a:p>
            <a:pPr marL="152400" indent="0" algn="just">
              <a:lnSpc>
                <a:spcPct val="200000"/>
              </a:lnSpc>
              <a:spcBef>
                <a:spcPts val="0"/>
              </a:spcBef>
              <a:buNone/>
            </a:pPr>
            <a:r>
              <a:rPr lang="en-US" sz="1800" b="1" dirty="0" smtClean="0">
                <a:latin typeface="Cambria" panose="02040503050406030204" pitchFamily="18" charset="0"/>
                <a:cs typeface="Cambria" panose="02040503050406030204" pitchFamily="18" charset="0"/>
                <a:sym typeface="+mn-ea"/>
              </a:rPr>
              <a:t>Charts: </a:t>
            </a:r>
            <a:r>
              <a:rPr lang="en-US" sz="1800" dirty="0" err="1" smtClean="0">
                <a:latin typeface="Cambria" panose="02040503050406030204" pitchFamily="18" charset="0"/>
                <a:cs typeface="Cambria" panose="02040503050406030204" pitchFamily="18" charset="0"/>
                <a:sym typeface="+mn-ea"/>
              </a:rPr>
              <a:t>Recharts</a:t>
            </a:r>
            <a:endParaRPr lang="en-US" sz="1600" b="1" dirty="0" smtClean="0">
              <a:latin typeface="Times New Roman" panose="02020603050405020304" charset="0"/>
              <a:cs typeface="Times New Roman" panose="02020603050405020304" charset="0"/>
            </a:endParaRPr>
          </a:p>
          <a:p>
            <a:pPr marL="152400" indent="0" algn="just">
              <a:lnSpc>
                <a:spcPct val="200000"/>
              </a:lnSpc>
              <a:spcBef>
                <a:spcPts val="0"/>
              </a:spcBef>
              <a:buNone/>
            </a:pPr>
            <a:endParaRPr lang="en-US" sz="1400" dirty="0">
              <a:latin typeface="Cambria" panose="02040503050406030204"/>
            </a:endParaRPr>
          </a:p>
          <a:p>
            <a:pPr marL="495300" lvl="0" indent="-342900" algn="just" rtl="0">
              <a:lnSpc>
                <a:spcPct val="200000"/>
              </a:lnSpc>
              <a:spcBef>
                <a:spcPts val="0"/>
              </a:spcBef>
              <a:spcAft>
                <a:spcPts val="0"/>
              </a:spcAft>
              <a:buClr>
                <a:schemeClr val="dk1"/>
              </a:buClr>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br>
              <a:rPr lang="en-US" err="1">
                <a:latin typeface="Cambria" panose="02040503050406030204" pitchFamily="18" charset="0"/>
                <a:ea typeface="Cambria" panose="02040503050406030204" pitchFamily="18" charset="0"/>
                <a:sym typeface="+mn-ea"/>
              </a:rPr>
            </a:br>
            <a:r>
              <a:rPr lang="en-US" err="1">
                <a:latin typeface="Cambria" panose="02040503050406030204" pitchFamily="18" charset="0"/>
                <a:ea typeface="Cambria" panose="02040503050406030204" pitchFamily="18" charset="0"/>
                <a:sym typeface="+mn-ea"/>
              </a:rPr>
              <a:t>Git</a:t>
            </a:r>
            <a:r>
              <a:rPr lang="en-US">
                <a:latin typeface="Cambria" panose="02040503050406030204" pitchFamily="18" charset="0"/>
                <a:ea typeface="Cambria" panose="02040503050406030204" pitchFamily="18" charset="0"/>
                <a:sym typeface="+mn-ea"/>
              </a:rPr>
              <a:t>-hub Link</a:t>
            </a:r>
            <a:br>
              <a:rPr lang="en-US">
                <a:latin typeface="Cambria" panose="02040503050406030204" pitchFamily="18" charset="0"/>
                <a:ea typeface="Cambria" panose="02040503050406030204" pitchFamily="18" charset="0"/>
              </a:rPr>
            </a:br>
            <a:endParaRPr lang="en-US"/>
          </a:p>
        </p:txBody>
      </p:sp>
      <p:sp>
        <p:nvSpPr>
          <p:cNvPr id="3" name="Text Placeholder 2"/>
          <p:cNvSpPr>
            <a:spLocks noGrp="1"/>
          </p:cNvSpPr>
          <p:nvPr>
            <p:ph type="body" idx="1"/>
          </p:nvPr>
        </p:nvSpPr>
        <p:spPr/>
        <p:txBody>
          <a:bodyPr/>
          <a:p>
            <a:pPr marL="76200" indent="0">
              <a:buNone/>
            </a:pPr>
            <a:endParaRPr lang="en-US">
              <a:hlinkClick r:id="rId1" action="ppaction://hlinkfile"/>
            </a:endParaRPr>
          </a:p>
          <a:p>
            <a:pPr marL="76200" indent="0">
              <a:buNone/>
            </a:pPr>
            <a:endParaRPr lang="en-US">
              <a:hlinkClick r:id="rId1" action="ppaction://hlinkfile"/>
            </a:endParaRPr>
          </a:p>
          <a:p>
            <a:pPr marL="76200" indent="0">
              <a:buNone/>
            </a:pPr>
            <a:endParaRPr lang="en-US">
              <a:hlinkClick r:id="rId1" action="ppaction://hlinkfile"/>
            </a:endParaRPr>
          </a:p>
          <a:p>
            <a:pPr marL="342900" indent="-190500" algn="just">
              <a:lnSpc>
                <a:spcPct val="200000"/>
              </a:lnSpc>
              <a:spcBef>
                <a:spcPts val="0"/>
              </a:spcBef>
              <a:buSzPct val="100000"/>
              <a:buNone/>
            </a:pPr>
            <a:r>
              <a:rPr lang="en-US">
                <a:hlinkClick r:id="rId1" action="ppaction://hlinkfile"/>
              </a:rPr>
              <a:t> </a:t>
            </a:r>
            <a:r>
              <a:rPr lang="en-IN" dirty="0">
                <a:latin typeface="Cambria" panose="02040503050406030204" pitchFamily="18" charset="0"/>
                <a:ea typeface="Cambria" panose="02040503050406030204" pitchFamily="18" charset="0"/>
                <a:sym typeface="+mn-ea"/>
                <a:hlinkClick r:id="rId2"/>
              </a:rPr>
              <a:t>https://github.com/Lavanya7004/Quality-Assesment-Capstone Project</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Timeline of the Project (Gantt Chart)</a:t>
            </a:r>
            <a:endParaRPr>
              <a:latin typeface="Cambria" panose="02040503050406030204" pitchFamily="18" charset="0"/>
              <a:ea typeface="Cambria" panose="02040503050406030204" pitchFamily="18" charset="0"/>
            </a:endParaRPr>
          </a:p>
        </p:txBody>
      </p:sp>
      <p:pic>
        <p:nvPicPr>
          <p:cNvPr id="4" name="Picture 3" descr="Gradient Colorful Web Development Gantt Chart Graph  (4)"/>
          <p:cNvPicPr>
            <a:picLocks noChangeAspect="1"/>
          </p:cNvPicPr>
          <p:nvPr/>
        </p:nvPicPr>
        <p:blipFill>
          <a:blip r:embed="rId1"/>
          <a:stretch>
            <a:fillRect/>
          </a:stretch>
        </p:blipFill>
        <p:spPr>
          <a:xfrm>
            <a:off x="2474595" y="1113790"/>
            <a:ext cx="6173470" cy="4630420"/>
          </a:xfrm>
          <a:prstGeom prst="rect">
            <a:avLst/>
          </a:prstGeom>
        </p:spPr>
      </p:pic>
      <p:pic>
        <p:nvPicPr>
          <p:cNvPr id="5" name="Picture 4"/>
          <p:cNvPicPr>
            <a:picLocks noChangeAspect="1"/>
          </p:cNvPicPr>
          <p:nvPr/>
        </p:nvPicPr>
        <p:blipFill>
          <a:blip r:embed="rId2"/>
          <a:stretch>
            <a:fillRect/>
          </a:stretch>
        </p:blipFill>
        <p:spPr>
          <a:xfrm>
            <a:off x="1533525" y="1113790"/>
            <a:ext cx="8602980" cy="46304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a:t>Result</a:t>
            </a:r>
            <a:endParaRPr lang="en-GB" altLang="en-US"/>
          </a:p>
        </p:txBody>
      </p:sp>
      <p:sp>
        <p:nvSpPr>
          <p:cNvPr id="3" name="Text Placeholder 2"/>
          <p:cNvSpPr>
            <a:spLocks noGrp="1"/>
          </p:cNvSpPr>
          <p:nvPr>
            <p:ph type="body" idx="1"/>
          </p:nvPr>
        </p:nvSpPr>
        <p:spPr/>
        <p:txBody>
          <a:bodyPr>
            <a:normAutofit/>
          </a:bodyPr>
          <a:p>
            <a:pPr marL="76200" indent="0" algn="l">
              <a:buNone/>
            </a:pPr>
            <a:r>
              <a:rPr lang="en-US" altLang="en-GB" sz="2000">
                <a:latin typeface="Cambria" panose="02040503050406030204" pitchFamily="18" charset="0"/>
                <a:cs typeface="Cambria" panose="02040503050406030204" pitchFamily="18" charset="0"/>
              </a:rPr>
              <a:t>The system maintains the quality of evaluation as time </a:t>
            </a:r>
            <a:r>
              <a:rPr lang="en-GB" altLang="en-US" sz="2000">
                <a:latin typeface="Cambria" panose="02040503050406030204" pitchFamily="18" charset="0"/>
                <a:cs typeface="Cambria" panose="02040503050406030204" pitchFamily="18" charset="0"/>
              </a:rPr>
              <a:t>p</a:t>
            </a:r>
            <a:r>
              <a:rPr lang="en-US" altLang="en-GB" sz="2000">
                <a:latin typeface="Cambria" panose="02040503050406030204" pitchFamily="18" charset="0"/>
                <a:cs typeface="Cambria" panose="02040503050406030204" pitchFamily="18" charset="0"/>
              </a:rPr>
              <a:t>asses by. It achieves this by means of enforced user authentication. It is also based on well-structured rubrics throughout the entire process. The measures will have a steady level of standards in place. The main body of the modular design here is Supabase. This is quite alright when a small team of reviewers is involved. </a:t>
            </a:r>
            <a:r>
              <a:rPr lang="en-GB" altLang="en-US" sz="2000">
                <a:latin typeface="Cambria" panose="02040503050406030204" pitchFamily="18" charset="0"/>
                <a:cs typeface="Cambria" panose="02040503050406030204" pitchFamily="18" charset="0"/>
              </a:rPr>
              <a:t>  It </a:t>
            </a:r>
            <a:r>
              <a:rPr lang="en-US" altLang="en-GB" sz="2000">
                <a:latin typeface="Cambria" panose="02040503050406030204" pitchFamily="18" charset="0"/>
                <a:cs typeface="Cambria" panose="02040503050406030204" pitchFamily="18" charset="0"/>
              </a:rPr>
              <a:t>deals with them with no actual problems. The installation is useful in bigger institutional applications as well. Scalability is effective with the various sizes of groups in practice. The web interface presented is just a simple guided interface and offers usability. Only basic training is required to complete their work through such an interface by administrators and reviewers.</a:t>
            </a:r>
            <a:endParaRPr lang="en-US" altLang="en-GB" sz="2000">
              <a:latin typeface="Cambria" panose="02040503050406030204" pitchFamily="18" charset="0"/>
              <a:cs typeface="Cambria" panose="02040503050406030204" pitchFamily="18" charset="0"/>
            </a:endParaRPr>
          </a:p>
          <a:p>
            <a:pPr marL="76200" indent="0" algn="l">
              <a:buNone/>
            </a:pPr>
            <a:r>
              <a:rPr lang="en-US" altLang="en-GB" sz="2000">
                <a:latin typeface="Cambria" panose="02040503050406030204" pitchFamily="18" charset="0"/>
                <a:cs typeface="Cambria" panose="02040503050406030204" pitchFamily="18" charset="0"/>
              </a:rPr>
              <a:t>User Interface Overview</a:t>
            </a:r>
            <a:r>
              <a:rPr lang="en-GB" altLang="en-US" sz="2000">
                <a:latin typeface="Cambria" panose="02040503050406030204" pitchFamily="18" charset="0"/>
                <a:cs typeface="Cambria" panose="02040503050406030204" pitchFamily="18" charset="0"/>
              </a:rPr>
              <a:t>:</a:t>
            </a:r>
            <a:endParaRPr lang="en-US" altLang="en-GB" sz="2000">
              <a:latin typeface="Cambria" panose="02040503050406030204" pitchFamily="18" charset="0"/>
              <a:cs typeface="Cambria" panose="02040503050406030204" pitchFamily="18" charset="0"/>
            </a:endParaRPr>
          </a:p>
          <a:p>
            <a:pPr marL="76200" indent="0" algn="l">
              <a:buNone/>
            </a:pPr>
            <a:r>
              <a:rPr lang="en-US" altLang="en-GB" sz="2000">
                <a:latin typeface="Cambria" panose="02040503050406030204" pitchFamily="18" charset="0"/>
                <a:cs typeface="Cambria" panose="02040503050406030204" pitchFamily="18" charset="0"/>
              </a:rPr>
              <a:t>The platform has a role based system both to the reviewers and administrators. Both dashboards have easy-to</a:t>
            </a:r>
            <a:r>
              <a:rPr lang="en-GB" altLang="en-US" sz="2000">
                <a:latin typeface="Cambria" panose="02040503050406030204" pitchFamily="18" charset="0"/>
                <a:cs typeface="Cambria" panose="02040503050406030204" pitchFamily="18" charset="0"/>
              </a:rPr>
              <a:t> </a:t>
            </a:r>
            <a:r>
              <a:rPr lang="en-US" altLang="en-GB" sz="2000">
                <a:latin typeface="Cambria" panose="02040503050406030204" pitchFamily="18" charset="0"/>
                <a:cs typeface="Cambria" panose="02040503050406030204" pitchFamily="18" charset="0"/>
              </a:rPr>
              <a:t>use navigations and access controls. Immediate information on assessment tasks is updated in real-time. Through this approach, everything is structured without any issues.</a:t>
            </a:r>
            <a:endParaRPr lang="en-US" altLang="en-GB" sz="2000">
              <a:latin typeface="Cambria" panose="02040503050406030204" pitchFamily="18" charset="0"/>
              <a:cs typeface="Cambria" panose="02040503050406030204" pitchFamily="18" charset="0"/>
            </a:endParaRPr>
          </a:p>
          <a:p>
            <a:pPr marL="76200" indent="0" algn="l">
              <a:buNone/>
            </a:pPr>
            <a:endParaRPr lang="en-US" altLang="en-GB" sz="2000">
              <a:latin typeface="Cambria" panose="02040503050406030204" pitchFamily="18" charset="0"/>
              <a:cs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Cambria" panose="02040503050406030204" pitchFamily="18" charset="0"/>
                <a:ea typeface="Cambria" panose="02040503050406030204" pitchFamily="18" charset="0"/>
              </a:rPr>
              <a:t>References (IEEE Paper format)</a:t>
            </a:r>
            <a:endParaRPr>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0000"/>
          </a:bodyPr>
          <a:lstStyle/>
          <a:p>
            <a:pPr algn="just">
              <a:buNone/>
            </a:pPr>
            <a:r>
              <a:rPr lang="en-US" altLang="en-GB" dirty="0">
                <a:latin typeface="Cambria" panose="02040503050406030204"/>
              </a:rPr>
              <a:t>[1] G. W. Cobb, “Introductory textbooks: A framework for evaluation: A comparison of 16</a:t>
            </a:r>
            <a:endParaRPr lang="en-US" altLang="en-GB" dirty="0">
              <a:latin typeface="Cambria" panose="02040503050406030204"/>
            </a:endParaRPr>
          </a:p>
          <a:p>
            <a:pPr algn="just">
              <a:buNone/>
            </a:pPr>
            <a:r>
              <a:rPr lang="en-US" altLang="en-GB" dirty="0">
                <a:latin typeface="Cambria" panose="02040503050406030204"/>
              </a:rPr>
              <a:t>books,” Journal of the American Statistical Association, vol. 82, no. 397, pp. 321–339, 1987.</a:t>
            </a:r>
            <a:endParaRPr lang="en-US" altLang="en-GB" dirty="0">
              <a:latin typeface="Cambria" panose="02040503050406030204"/>
            </a:endParaRPr>
          </a:p>
          <a:p>
            <a:pPr algn="just">
              <a:buNone/>
            </a:pPr>
            <a:r>
              <a:rPr lang="en-US" altLang="en-GB" dirty="0">
                <a:latin typeface="Cambria" panose="02040503050406030204"/>
              </a:rPr>
              <a:t>[2] R. A. R. Gurung and R. C. Martin, “Predicting textbook reading: The textbook assessment</a:t>
            </a:r>
            <a:endParaRPr lang="en-US" altLang="en-GB" dirty="0">
              <a:latin typeface="Cambria" panose="02040503050406030204"/>
            </a:endParaRPr>
          </a:p>
          <a:p>
            <a:pPr algn="just">
              <a:buNone/>
            </a:pPr>
            <a:r>
              <a:rPr lang="en-US" altLang="en-GB" dirty="0">
                <a:latin typeface="Cambria" panose="02040503050406030204"/>
              </a:rPr>
              <a:t>and usage scale,” Teaching of Psychology, vol. 38, no. 1, pp. 22–28, 2011.</a:t>
            </a:r>
            <a:endParaRPr lang="en-US" altLang="en-GB" dirty="0">
              <a:latin typeface="Cambria" panose="02040503050406030204"/>
            </a:endParaRPr>
          </a:p>
          <a:p>
            <a:pPr algn="just">
              <a:buNone/>
            </a:pPr>
            <a:r>
              <a:rPr lang="en-US" altLang="en-GB" dirty="0">
                <a:latin typeface="Cambria" panose="02040503050406030204"/>
              </a:rPr>
              <a:t>[3] C.-C. Fey and E. Matthes, “Textbook quality criteria and evaluation,” in The Palgrave</a:t>
            </a:r>
            <a:endParaRPr lang="en-US" altLang="en-GB" dirty="0">
              <a:latin typeface="Cambria" panose="02040503050406030204"/>
            </a:endParaRPr>
          </a:p>
          <a:p>
            <a:pPr algn="just">
              <a:buNone/>
            </a:pPr>
            <a:r>
              <a:rPr lang="en-US" altLang="en-GB" dirty="0">
                <a:latin typeface="Cambria" panose="02040503050406030204"/>
              </a:rPr>
              <a:t>Handbook of Textbook Studies, New York: Palgrave Macmillan US, 2018, pp. 157–167.</a:t>
            </a:r>
            <a:endParaRPr lang="en-US" altLang="en-GB" dirty="0">
              <a:latin typeface="Cambria" panose="02040503050406030204"/>
            </a:endParaRPr>
          </a:p>
          <a:p>
            <a:pPr algn="just">
              <a:buNone/>
            </a:pPr>
            <a:r>
              <a:rPr lang="en-US" altLang="en-GB" dirty="0">
                <a:latin typeface="Cambria" panose="02040503050406030204"/>
              </a:rPr>
              <a:t>[4] M. Mohammadi and H. Abdi, “Textbook evaluation: A case study,” Procedia - Social and</a:t>
            </a:r>
            <a:endParaRPr lang="en-US" altLang="en-GB" dirty="0">
              <a:latin typeface="Cambria" panose="02040503050406030204"/>
            </a:endParaRPr>
          </a:p>
          <a:p>
            <a:pPr algn="just">
              <a:buNone/>
            </a:pPr>
            <a:r>
              <a:rPr lang="en-US" altLang="en-GB" dirty="0">
                <a:latin typeface="Cambria" panose="02040503050406030204"/>
              </a:rPr>
              <a:t>Behavioral Sciences, vol. 98, pp. 1148–1155, 2014.</a:t>
            </a:r>
            <a:endParaRPr lang="en-US" altLang="en-GB" dirty="0">
              <a:latin typeface="Cambria" panose="02040503050406030204"/>
            </a:endParaRPr>
          </a:p>
          <a:p>
            <a:pPr algn="just">
              <a:buNone/>
            </a:pPr>
            <a:r>
              <a:rPr lang="en-US" altLang="en-GB" dirty="0">
                <a:latin typeface="Cambria" panose="02040503050406030204"/>
              </a:rPr>
              <a:t>[5] K. Mahmood, “Conformity to quality characteristics of textbooks: The illusion of textbook</a:t>
            </a:r>
            <a:endParaRPr lang="en-US" altLang="en-GB" dirty="0">
              <a:latin typeface="Cambria" panose="02040503050406030204"/>
            </a:endParaRPr>
          </a:p>
          <a:p>
            <a:pPr algn="just">
              <a:buNone/>
            </a:pPr>
            <a:r>
              <a:rPr lang="en-US" altLang="en-GB" dirty="0">
                <a:latin typeface="Cambria" panose="02040503050406030204"/>
              </a:rPr>
              <a:t>evaluation in Pakistan,” Journal of Research and Reflections in Education, vol. 5, no. 2, pp.</a:t>
            </a:r>
            <a:endParaRPr lang="en-US" altLang="en-GB" dirty="0">
              <a:latin typeface="Cambria" panose="02040503050406030204"/>
            </a:endParaRPr>
          </a:p>
          <a:p>
            <a:pPr algn="just">
              <a:buNone/>
            </a:pPr>
            <a:r>
              <a:rPr lang="en-US" altLang="en-GB" dirty="0">
                <a:latin typeface="Cambria" panose="02040503050406030204"/>
              </a:rPr>
              <a:t>170–190, 2011.</a:t>
            </a:r>
            <a:endParaRPr lang="en-US" altLang="en-GB" dirty="0">
              <a:latin typeface="Cambria" panose="02040503050406030204"/>
            </a:endParaRPr>
          </a:p>
          <a:p>
            <a:pPr algn="just">
              <a:buNone/>
            </a:pPr>
            <a:r>
              <a:rPr lang="en-US" altLang="en-GB" dirty="0">
                <a:latin typeface="Cambria" panose="02040503050406030204"/>
              </a:rPr>
              <a:t>[6] A. Woodward, D. L. Elliot, and K. C. Nagel, Textbooks in School and Society: An</a:t>
            </a:r>
            <a:endParaRPr lang="en-US" altLang="en-GB" dirty="0">
              <a:latin typeface="Cambria" panose="02040503050406030204"/>
            </a:endParaRPr>
          </a:p>
          <a:p>
            <a:pPr algn="just">
              <a:buNone/>
            </a:pPr>
            <a:r>
              <a:rPr lang="en-US" altLang="en-GB" dirty="0">
                <a:latin typeface="Cambria" panose="02040503050406030204"/>
              </a:rPr>
              <a:t>Annotated Bibliography &amp; Guide to Research, New York: Routledge, 2013.</a:t>
            </a:r>
            <a:endParaRPr lang="en-US" altLang="en-GB" dirty="0">
              <a:latin typeface="Cambria" panose="02040503050406030204"/>
            </a:endParaRPr>
          </a:p>
          <a:p>
            <a:pPr algn="just">
              <a:buNone/>
            </a:pPr>
            <a:endParaRPr lang="en-US" altLang="en-GB" dirty="0">
              <a:latin typeface="Cambria" panose="02040503050406030204"/>
            </a:endParaRPr>
          </a:p>
          <a:p>
            <a:pPr algn="just">
              <a:buNone/>
            </a:pPr>
            <a:endParaRPr lang="en-US" sz="1800" dirty="0">
              <a:latin typeface="Cambria" panose="02040503050406030204"/>
            </a:endParaRPr>
          </a:p>
          <a:p>
            <a:pPr marL="152400" indent="0" algn="just">
              <a:spcBef>
                <a:spcPts val="0"/>
              </a:spcBef>
              <a:buNone/>
            </a:pPr>
            <a:endParaRPr lang="en-US" sz="1600" dirty="0">
              <a:latin typeface="Cambria" panose="02040503050406030204"/>
              <a:ea typeface="Cambria" panose="02040503050406030204"/>
            </a:endParaRPr>
          </a:p>
          <a:p>
            <a:pPr marL="152400" indent="0" algn="just">
              <a:spcBef>
                <a:spcPts val="0"/>
              </a:spcBef>
              <a:buNone/>
            </a:pPr>
            <a:endParaRPr lang="en-US" sz="1600" dirty="0">
              <a:latin typeface="Cambria" panose="02040503050406030204"/>
              <a:ea typeface="Cambria" panose="02040503050406030204"/>
            </a:endParaRPr>
          </a:p>
          <a:p>
            <a:pPr marL="152400" indent="0" algn="just">
              <a:spcBef>
                <a:spcPts val="0"/>
              </a:spcBef>
              <a:buNone/>
            </a:pPr>
            <a:endParaRPr lang="en-US" sz="1600" dirty="0">
              <a:latin typeface="Cambria" panose="02040503050406030204"/>
              <a:ea typeface="Cambria" panose="02040503050406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a:ea typeface="Cambria" panose="02040503050406030204"/>
              </a:rPr>
              <a:t>References (IEEE Paper format)(contd...)</a:t>
            </a:r>
            <a:endParaRPr lang="en-US" b="0" dirty="0">
              <a:solidFill>
                <a:srgbClr val="000000"/>
              </a:solidFill>
              <a:latin typeface="Cambria" panose="02040503050406030204"/>
              <a:ea typeface="Cambria" panose="02040503050406030204"/>
            </a:endParaRPr>
          </a:p>
        </p:txBody>
      </p:sp>
      <p:sp>
        <p:nvSpPr>
          <p:cNvPr id="3" name="Text Placeholder 2"/>
          <p:cNvSpPr>
            <a:spLocks noGrp="1"/>
          </p:cNvSpPr>
          <p:nvPr>
            <p:ph type="body" idx="1"/>
          </p:nvPr>
        </p:nvSpPr>
        <p:spPr/>
        <p:txBody>
          <a:bodyPr>
            <a:normAutofit lnSpcReduction="10000"/>
          </a:bodyPr>
          <a:lstStyle/>
          <a:p>
            <a:pPr>
              <a:buNone/>
            </a:pPr>
            <a:r>
              <a:rPr lang="en-US" altLang="en-GB" sz="2000" dirty="0">
                <a:latin typeface="Cambria" panose="02040503050406030204"/>
                <a:ea typeface="Cambria" panose="02040503050406030204"/>
              </a:rPr>
              <a:t>[7] I. Ivi</a:t>
            </a:r>
            <a:r>
              <a:rPr lang="" altLang="en-US" sz="2000" dirty="0">
                <a:latin typeface="Cambria" panose="02040503050406030204"/>
                <a:ea typeface="Cambria" panose="02040503050406030204"/>
              </a:rPr>
              <a:t>ć</a:t>
            </a:r>
            <a:r>
              <a:rPr lang="en-US" altLang="en-GB" sz="2000" dirty="0">
                <a:latin typeface="Cambria" panose="02040503050406030204"/>
                <a:ea typeface="Cambria" panose="02040503050406030204"/>
              </a:rPr>
              <a:t>, S. Anti</a:t>
            </a:r>
            <a:r>
              <a:rPr lang="" altLang="en-US" sz="2000" dirty="0">
                <a:latin typeface="Cambria" panose="02040503050406030204"/>
                <a:ea typeface="Cambria" panose="02040503050406030204"/>
              </a:rPr>
              <a:t>ć</a:t>
            </a:r>
            <a:r>
              <a:rPr lang="en-US" altLang="en-GB" sz="2000" dirty="0">
                <a:latin typeface="Cambria" panose="02040503050406030204"/>
                <a:ea typeface="Cambria" panose="02040503050406030204"/>
              </a:rPr>
              <a:t>, and A. Pe</a:t>
            </a:r>
            <a:r>
              <a:rPr lang="" altLang="en-US" sz="2000" dirty="0">
                <a:latin typeface="Cambria" panose="02040503050406030204"/>
                <a:ea typeface="Cambria" panose="02040503050406030204"/>
              </a:rPr>
              <a:t>š</a:t>
            </a:r>
            <a:r>
              <a:rPr lang="en-US" altLang="en-GB" sz="2000" dirty="0">
                <a:latin typeface="Cambria" panose="02040503050406030204"/>
                <a:ea typeface="Cambria" panose="02040503050406030204"/>
              </a:rPr>
              <a:t>ikan, eds., Textbook Quality: A Guide to Textbook Standards,</a:t>
            </a:r>
            <a:endParaRPr lang="en-US" altLang="en-GB" sz="2000" dirty="0">
              <a:latin typeface="Cambria" panose="02040503050406030204"/>
              <a:ea typeface="Cambria" panose="02040503050406030204"/>
            </a:endParaRPr>
          </a:p>
          <a:p>
            <a:pPr>
              <a:buNone/>
            </a:pPr>
            <a:r>
              <a:rPr lang="en-US" altLang="en-GB" sz="2000" dirty="0">
                <a:latin typeface="Cambria" panose="02040503050406030204"/>
                <a:ea typeface="Cambria" panose="02040503050406030204"/>
              </a:rPr>
              <a:t>vol. 2, G</a:t>
            </a:r>
            <a:r>
              <a:rPr lang="en-US" altLang="en-US" sz="2000" dirty="0">
                <a:latin typeface="Cambria" panose="02040503050406030204"/>
                <a:ea typeface="Cambria" panose="02040503050406030204"/>
              </a:rPr>
              <a:t>ö</a:t>
            </a:r>
            <a:r>
              <a:rPr lang="en-US" altLang="en-GB" sz="2000" dirty="0">
                <a:latin typeface="Cambria" panose="02040503050406030204"/>
                <a:ea typeface="Cambria" panose="02040503050406030204"/>
              </a:rPr>
              <a:t>ttingen: V&amp;R unipress GmbH, 2013.</a:t>
            </a:r>
            <a:endParaRPr lang="en-US" altLang="en-GB" sz="2000" dirty="0">
              <a:latin typeface="Cambria" panose="02040503050406030204"/>
              <a:ea typeface="Cambria" panose="02040503050406030204"/>
            </a:endParaRPr>
          </a:p>
          <a:p>
            <a:pPr>
              <a:buNone/>
            </a:pPr>
            <a:r>
              <a:rPr lang="en-US" altLang="en-GB" sz="2000" dirty="0">
                <a:latin typeface="Cambria" panose="02040503050406030204"/>
                <a:ea typeface="Cambria" panose="02040503050406030204"/>
              </a:rPr>
              <a:t>[8] O. Yasar, “A comparative analysis of assessment and evaluation exercises included in</a:t>
            </a:r>
            <a:endParaRPr lang="en-US" altLang="en-GB" sz="2000" dirty="0">
              <a:latin typeface="Cambria" panose="02040503050406030204"/>
              <a:ea typeface="Cambria" panose="02040503050406030204"/>
            </a:endParaRPr>
          </a:p>
          <a:p>
            <a:pPr>
              <a:buNone/>
            </a:pPr>
            <a:r>
              <a:rPr lang="en-US" altLang="en-GB" sz="2000" dirty="0">
                <a:latin typeface="Cambria" panose="02040503050406030204"/>
                <a:ea typeface="Cambria" panose="02040503050406030204"/>
              </a:rPr>
              <a:t>geography textbooks written according to the 2005 secondary education geography</a:t>
            </a:r>
            <a:endParaRPr lang="en-US" altLang="en-GB" sz="2000" dirty="0">
              <a:latin typeface="Cambria" panose="02040503050406030204"/>
              <a:ea typeface="Cambria" panose="02040503050406030204"/>
            </a:endParaRPr>
          </a:p>
          <a:p>
            <a:pPr>
              <a:buNone/>
            </a:pPr>
            <a:r>
              <a:rPr lang="en-US" altLang="en-GB" sz="2000" dirty="0">
                <a:latin typeface="Cambria" panose="02040503050406030204"/>
                <a:ea typeface="Cambria" panose="02040503050406030204"/>
              </a:rPr>
              <a:t>curriculum and textbooks of the former curriculum in Turkey,” International Journal of</a:t>
            </a:r>
            <a:endParaRPr lang="en-US" altLang="en-GB" sz="2000" dirty="0">
              <a:latin typeface="Cambria" panose="02040503050406030204"/>
              <a:ea typeface="Cambria" panose="02040503050406030204"/>
            </a:endParaRPr>
          </a:p>
          <a:p>
            <a:pPr>
              <a:buNone/>
            </a:pPr>
            <a:r>
              <a:rPr lang="en-US" altLang="en-GB" sz="2000" dirty="0">
                <a:latin typeface="Cambria" panose="02040503050406030204"/>
                <a:ea typeface="Cambria" panose="02040503050406030204"/>
              </a:rPr>
              <a:t>Progressive Education, vol. 5, no. 1, pp. 45–68, 2009.</a:t>
            </a:r>
            <a:endParaRPr lang="en-US" altLang="en-GB" sz="2000" dirty="0">
              <a:latin typeface="Cambria" panose="02040503050406030204"/>
              <a:ea typeface="Cambria" panose="02040503050406030204"/>
            </a:endParaRPr>
          </a:p>
          <a:p>
            <a:pPr>
              <a:buNone/>
            </a:pPr>
            <a:r>
              <a:rPr lang="en-US" altLang="en-GB" sz="2000" dirty="0">
                <a:latin typeface="Cambria" panose="02040503050406030204"/>
                <a:ea typeface="Cambria" panose="02040503050406030204"/>
              </a:rPr>
              <a:t>[9] P. Race, The Lecturer’s Toolkit: A Practical Guide to Assessment, Learning and Teaching,</a:t>
            </a:r>
            <a:endParaRPr lang="en-US" altLang="en-GB" sz="2000" dirty="0">
              <a:latin typeface="Cambria" panose="02040503050406030204"/>
              <a:ea typeface="Cambria" panose="02040503050406030204"/>
            </a:endParaRPr>
          </a:p>
          <a:p>
            <a:pPr>
              <a:buNone/>
            </a:pPr>
            <a:r>
              <a:rPr lang="en-US" altLang="en-GB" sz="2000" dirty="0">
                <a:latin typeface="Cambria" panose="02040503050406030204"/>
                <a:ea typeface="Cambria" panose="02040503050406030204"/>
              </a:rPr>
              <a:t>London: Routledge, 2019.</a:t>
            </a:r>
            <a:endParaRPr lang="en-US" altLang="en-GB" sz="2000" dirty="0">
              <a:latin typeface="Cambria" panose="02040503050406030204"/>
              <a:ea typeface="Cambria" panose="02040503050406030204"/>
            </a:endParaRPr>
          </a:p>
          <a:p>
            <a:pPr>
              <a:buNone/>
            </a:pPr>
            <a:r>
              <a:rPr lang="en-US" altLang="en-GB" sz="2000" dirty="0">
                <a:latin typeface="Cambria" panose="02040503050406030204"/>
                <a:ea typeface="Cambria" panose="02040503050406030204"/>
              </a:rPr>
              <a:t>[10] J. N. Giger and L. Haddad, Transcultural Nursing: Assessment and Intervention, Elsevier</a:t>
            </a:r>
            <a:endParaRPr lang="en-US" altLang="en-GB" sz="2000" dirty="0">
              <a:latin typeface="Cambria" panose="02040503050406030204"/>
              <a:ea typeface="Cambria" panose="02040503050406030204"/>
            </a:endParaRPr>
          </a:p>
          <a:p>
            <a:pPr>
              <a:buNone/>
            </a:pPr>
            <a:r>
              <a:rPr lang="en-US" altLang="en-GB" sz="2000" dirty="0">
                <a:latin typeface="Cambria" panose="02040503050406030204"/>
                <a:ea typeface="Cambria" panose="02040503050406030204"/>
              </a:rPr>
              <a:t>Health Sciences, 2020.</a:t>
            </a:r>
            <a:endParaRPr lang="en-US" altLang="en-GB" sz="2000" dirty="0">
              <a:latin typeface="Cambria" panose="02040503050406030204"/>
              <a:ea typeface="Cambria" panose="02040503050406030204"/>
            </a:endParaRPr>
          </a:p>
          <a:p>
            <a:pPr marL="76200" indent="0">
              <a:buNone/>
            </a:pPr>
            <a:endParaRPr lang="en-US" sz="2200" dirty="0"/>
          </a:p>
          <a:p>
            <a:pPr marL="76200" indent="0">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ags/tag1.xml><?xml version="1.0" encoding="utf-8"?>
<p:tagLst xmlns:p="http://schemas.openxmlformats.org/presentationml/2006/main">
  <p:tag name="TABLE_ENDDRAG_ORIGIN_RECT" val="403*135"/>
  <p:tag name="TABLE_ENDDRAG_RECT" val="52*205*403*135"/>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11795</Words>
  <Application>WPS Presentation</Application>
  <PresentationFormat>Widescreen</PresentationFormat>
  <Paragraphs>262</Paragraphs>
  <Slides>18</Slides>
  <Notes>8</Notes>
  <HiddenSlides>0</HiddenSlides>
  <MMClips>0</MMClips>
  <ScaleCrop>false</ScaleCrop>
  <HeadingPairs>
    <vt:vector size="6" baseType="variant">
      <vt:variant>
        <vt:lpstr>已用的字体</vt:lpstr>
      </vt:variant>
      <vt:variant>
        <vt:i4>39</vt:i4>
      </vt:variant>
      <vt:variant>
        <vt:lpstr>主题</vt:lpstr>
      </vt:variant>
      <vt:variant>
        <vt:i4>1</vt:i4>
      </vt:variant>
      <vt:variant>
        <vt:lpstr>幻灯片标题</vt:lpstr>
      </vt:variant>
      <vt:variant>
        <vt:i4>18</vt:i4>
      </vt:variant>
    </vt:vector>
  </HeadingPairs>
  <TitlesOfParts>
    <vt:vector size="58" baseType="lpstr">
      <vt:lpstr>Arial</vt:lpstr>
      <vt:lpstr>SimSun</vt:lpstr>
      <vt:lpstr>Wingdings</vt:lpstr>
      <vt:lpstr>Arial</vt:lpstr>
      <vt:lpstr>Verdana</vt:lpstr>
      <vt:lpstr>Bookman Old Style</vt:lpstr>
      <vt:lpstr>Cambria</vt:lpstr>
      <vt:lpstr>Cambria</vt:lpstr>
      <vt:lpstr>Times New Roman</vt:lpstr>
      <vt:lpstr>Times New Roman Bold</vt:lpstr>
      <vt:lpstr>Times New Roman</vt:lpstr>
      <vt:lpstr>Microsoft YaHei</vt:lpstr>
      <vt:lpstr>Arial Unicode MS</vt:lpstr>
      <vt:lpstr>Stencil</vt:lpstr>
      <vt:lpstr>Sylfaen</vt:lpstr>
      <vt:lpstr>Trebuchet MS</vt:lpstr>
      <vt:lpstr>Tw Cen MT</vt:lpstr>
      <vt:lpstr>Verdana Pro</vt:lpstr>
      <vt:lpstr>Tempus Sans ITC</vt:lpstr>
      <vt:lpstr>MV Boli</vt:lpstr>
      <vt:lpstr>Baskerville Old Face</vt:lpstr>
      <vt:lpstr>Calisto MT</vt:lpstr>
      <vt:lpstr>Arial Nova Cond</vt:lpstr>
      <vt:lpstr>Arial Nova</vt:lpstr>
      <vt:lpstr>Arial Narrow</vt:lpstr>
      <vt:lpstr>Arial Black</vt:lpstr>
      <vt:lpstr>Arial Nova Cond Light</vt:lpstr>
      <vt:lpstr>Arial Nova Light</vt:lpstr>
      <vt:lpstr>Arial Rounded MT Bold</vt:lpstr>
      <vt:lpstr>Bahnschrift</vt:lpstr>
      <vt:lpstr>Bahnschrift Condensed</vt:lpstr>
      <vt:lpstr>Cascadia Code Light</vt:lpstr>
      <vt:lpstr>Californian FB</vt:lpstr>
      <vt:lpstr>Calibri Light</vt:lpstr>
      <vt:lpstr>Calibri</vt:lpstr>
      <vt:lpstr>Sitka Text Semibold</vt:lpstr>
      <vt:lpstr>Tahoma</vt:lpstr>
      <vt:lpstr>MingLiU-ExtB</vt:lpstr>
      <vt:lpstr>Snap ITC</vt:lpstr>
      <vt:lpstr>Bioinformatics</vt:lpstr>
      <vt:lpstr>SYSTEM TO ENHANCE EDUCATION QUALITY IN RURAL AREAS</vt:lpstr>
      <vt:lpstr>Content</vt:lpstr>
      <vt:lpstr>Problem Statement</vt:lpstr>
      <vt:lpstr>Objectives</vt:lpstr>
      <vt:lpstr>Background and Related work</vt:lpstr>
      <vt:lpstr>PowerPoint 演示文稿</vt:lpstr>
      <vt:lpstr>PowerPoint 演示文稿</vt:lpstr>
      <vt:lpstr>Architecture Diagram</vt:lpstr>
      <vt:lpstr>Modules</vt:lpstr>
      <vt:lpstr>Algorithms</vt:lpstr>
      <vt:lpstr>PowerPoint 演示文稿</vt:lpstr>
      <vt:lpstr>Hardware and Software Requirements</vt:lpstr>
      <vt:lpstr> Git-hub Link </vt:lpstr>
      <vt:lpstr>Timeline of the Project (Gantt Chart)</vt:lpstr>
      <vt:lpstr>Result</vt:lpstr>
      <vt:lpstr>References (IEEE Paper format)</vt:lpstr>
      <vt:lpstr>References (IEEE Paper format)(contd...)</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WPS_1679405375</cp:lastModifiedBy>
  <cp:revision>514</cp:revision>
  <dcterms:created xsi:type="dcterms:W3CDTF">2025-11-27T14:45:00Z</dcterms:created>
  <dcterms:modified xsi:type="dcterms:W3CDTF">2025-11-27T16:19:24Z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2057-12.2.0.23155</vt:lpwstr>
  </property>
  <property fmtid="{D5CDD505-2E9C-101B-9397-08002B2CF9AE}" pid="3" name="ICV">
    <vt:lpwstr>A402F63C06E84DACAC977BA52DC5F409_13</vt:lpwstr>
  </property>
</Properties>
</file>